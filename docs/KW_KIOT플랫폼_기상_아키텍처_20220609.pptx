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9"/>
  </p:notesMasterIdLst>
  <p:sldIdLst>
    <p:sldId id="310" r:id="rId2"/>
    <p:sldId id="376" r:id="rId3"/>
    <p:sldId id="396" r:id="rId4"/>
    <p:sldId id="397" r:id="rId5"/>
    <p:sldId id="395" r:id="rId6"/>
    <p:sldId id="383" r:id="rId7"/>
    <p:sldId id="334" r:id="rId8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C3ACC27-2F32-472C-AC2A-8539291A946A}">
          <p14:sldIdLst>
            <p14:sldId id="310"/>
            <p14:sldId id="376"/>
            <p14:sldId id="396"/>
            <p14:sldId id="397"/>
            <p14:sldId id="395"/>
            <p14:sldId id="383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292" userDrawn="1">
          <p15:clr>
            <a:srgbClr val="A4A3A4"/>
          </p15:clr>
        </p15:guide>
        <p15:guide id="4" pos="960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8" orient="horz" pos="958" userDrawn="1">
          <p15:clr>
            <a:srgbClr val="A4A3A4"/>
          </p15:clr>
        </p15:guide>
        <p15:guide id="9" orient="horz" pos="799" userDrawn="1">
          <p15:clr>
            <a:srgbClr val="A4A3A4"/>
          </p15:clr>
        </p15:guide>
        <p15:guide id="12" pos="29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사용자" initials="W사" lastIdx="1" clrIdx="0">
    <p:extLst>
      <p:ext uri="{19B8F6BF-5375-455C-9EA6-DF929625EA0E}">
        <p15:presenceInfo xmlns:p15="http://schemas.microsoft.com/office/powerpoint/2012/main" userId="Windows 사용자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7BA"/>
    <a:srgbClr val="5B9BD5"/>
    <a:srgbClr val="004D96"/>
    <a:srgbClr val="4B4B4B"/>
    <a:srgbClr val="F8F8F8"/>
    <a:srgbClr val="FFFFFF"/>
    <a:srgbClr val="D0CECE"/>
    <a:srgbClr val="D5D0CA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240" autoAdjust="0"/>
  </p:normalViewPr>
  <p:slideViewPr>
    <p:cSldViewPr snapToGrid="0">
      <p:cViewPr varScale="1">
        <p:scale>
          <a:sx n="83" d="100"/>
          <a:sy n="83" d="100"/>
        </p:scale>
        <p:origin x="126" y="600"/>
      </p:cViewPr>
      <p:guideLst>
        <p:guide orient="horz" pos="4292"/>
        <p:guide pos="960"/>
        <p:guide pos="7469"/>
        <p:guide orient="horz" pos="958"/>
        <p:guide orient="horz" pos="799"/>
        <p:guide pos="29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2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7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7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815917C9-B75E-45E2-969D-49C80A8B15FC}" type="datetimeFigureOut">
              <a:rPr lang="ko-KR" altLang="en-US" smtClean="0"/>
              <a:pPr/>
              <a:t>2022-06-13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94" tIns="44097" rIns="88194" bIns="4409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88194" tIns="44097" rIns="88194" bIns="4409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6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6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983C3F2D-27CC-4EC0-B247-62332F972C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137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9C43D-F797-4D30-8F64-55BC1A5E184E}" type="datetime1">
              <a:rPr lang="ko-KR" altLang="en-US" smtClean="0"/>
              <a:pPr/>
              <a:t>2022-06-13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052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ECC5-989A-47D0-9BDE-BAA4BB0682FC}" type="datetime1">
              <a:rPr lang="ko-KR" altLang="en-US" smtClean="0"/>
              <a:pPr/>
              <a:t>2022-06-13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31870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5383-4B0A-4F85-85FA-94C1D5EAD1F2}" type="datetime1">
              <a:rPr lang="ko-KR" altLang="en-US" smtClean="0"/>
              <a:pPr/>
              <a:t>2022-06-13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3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2E2C-559D-4BAD-BD4F-155B04708C9D}" type="datetime1">
              <a:rPr lang="ko-KR" altLang="en-US" smtClean="0"/>
              <a:pPr/>
              <a:t>2022-06-13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92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A187-6191-4007-8F2B-46629A25EA8B}" type="datetime1">
              <a:rPr lang="ko-KR" altLang="en-US" smtClean="0"/>
              <a:pPr/>
              <a:t>2022-06-13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21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F110-D7B8-49D5-9B68-7337D8D907AF}" type="datetime1">
              <a:rPr lang="ko-KR" altLang="en-US" smtClean="0"/>
              <a:pPr/>
              <a:t>2022-06-13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90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ECB65-18C9-4408-9C23-AF216D302450}" type="datetime1">
              <a:rPr lang="ko-KR" altLang="en-US" smtClean="0"/>
              <a:pPr/>
              <a:t>2022-06-13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167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E854-64F2-4302-BE4F-42276F0C15E7}" type="datetime1">
              <a:rPr lang="ko-KR" altLang="en-US" smtClean="0"/>
              <a:pPr/>
              <a:t>2022-06-13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89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6984-7F89-46F5-AD57-62B05203615E}" type="datetime1">
              <a:rPr lang="ko-KR" altLang="en-US" smtClean="0"/>
              <a:pPr/>
              <a:t>2022-06-13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2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64AF-54DE-43F5-AA6A-9DD6224766CC}" type="datetime1">
              <a:rPr lang="ko-KR" altLang="en-US" smtClean="0"/>
              <a:pPr/>
              <a:t>2022-06-13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992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10B9B-442B-433D-8919-2FCD023E7A46}" type="datetime1">
              <a:rPr lang="ko-KR" altLang="en-US" smtClean="0"/>
              <a:pPr/>
              <a:t>2022-06-13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428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27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 userDrawn="1"/>
        </p:nvSpPr>
        <p:spPr>
          <a:xfrm>
            <a:off x="0" y="620688"/>
            <a:ext cx="12192000" cy="62373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10832123" y="6346078"/>
            <a:ext cx="1029479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제목 13"/>
          <p:cNvSpPr>
            <a:spLocks noGrp="1" noChangeAspect="1"/>
          </p:cNvSpPr>
          <p:nvPr>
            <p:ph type="title" hasCustomPrompt="1"/>
          </p:nvPr>
        </p:nvSpPr>
        <p:spPr>
          <a:xfrm>
            <a:off x="310154" y="143825"/>
            <a:ext cx="688256" cy="368750"/>
          </a:xfrm>
        </p:spPr>
        <p:txBody>
          <a:bodyPr wrap="none" lIns="36000" tIns="36000" rIns="36000" bIns="0" anchor="ctr" anchorCtr="1">
            <a:spAutoFit/>
          </a:bodyPr>
          <a:lstStyle>
            <a:lvl1pPr>
              <a:defRPr sz="24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</a:t>
            </a: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569" y="202344"/>
            <a:ext cx="1854033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530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" y="0"/>
            <a:ext cx="12190917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680114" y="1367312"/>
            <a:ext cx="5894718" cy="92993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altLang="ko-KR" sz="5443" dirty="0">
                <a:solidFill>
                  <a:schemeClr val="bg1"/>
                </a:solidFill>
                <a:latin typeface="Noto Sans Blk" panose="020B0A02040504020204" pitchFamily="34"/>
                <a:ea typeface="Noto Sans Blk" panose="020B0A02040504020204" pitchFamily="34"/>
                <a:cs typeface="Noto Sans Blk" panose="020B0A02040504020204" pitchFamily="34"/>
              </a:rPr>
              <a:t>THANK YOU.</a:t>
            </a:r>
            <a:endParaRPr lang="ko-KR" altLang="en-US" sz="5443" dirty="0">
              <a:solidFill>
                <a:schemeClr val="bg1"/>
              </a:solidFill>
              <a:latin typeface="Noto Sans Blk" panose="020B0A02040504020204" pitchFamily="34"/>
              <a:cs typeface="Noto Sans Blk" panose="020B0A02040504020204" pitchFamily="34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680114" y="5418544"/>
            <a:ext cx="2171428" cy="217880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altLang="ko-KR" sz="816" b="0" i="0" dirty="0">
                <a:solidFill>
                  <a:schemeClr val="bg1"/>
                </a:solidFill>
                <a:effectLst/>
                <a:latin typeface="+mn-lt"/>
              </a:rPr>
              <a:t>Copyright ⓒ </a:t>
            </a:r>
            <a:r>
              <a:rPr lang="en-US" altLang="ko-KR" sz="816" b="0" i="0" dirty="0" err="1">
                <a:solidFill>
                  <a:schemeClr val="bg1"/>
                </a:solidFill>
                <a:effectLst/>
                <a:latin typeface="+mn-lt"/>
              </a:rPr>
              <a:t>Kweather</a:t>
            </a:r>
            <a:r>
              <a:rPr lang="en-US" altLang="ko-KR" sz="816" b="0" i="0" dirty="0">
                <a:solidFill>
                  <a:schemeClr val="bg1"/>
                </a:solidFill>
                <a:effectLst/>
                <a:latin typeface="+mn-lt"/>
              </a:rPr>
              <a:t>. All rights reserved.</a:t>
            </a:r>
            <a:endParaRPr lang="ko-KR" altLang="en-US" sz="816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13" y="5706360"/>
            <a:ext cx="2916879" cy="31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948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 userDrawn="1"/>
        </p:nvSpPr>
        <p:spPr>
          <a:xfrm>
            <a:off x="0" y="620688"/>
            <a:ext cx="12192000" cy="62373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10832123" y="6346078"/>
            <a:ext cx="1029479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제목 13"/>
          <p:cNvSpPr>
            <a:spLocks noGrp="1" noChangeAspect="1"/>
          </p:cNvSpPr>
          <p:nvPr>
            <p:ph type="title" hasCustomPrompt="1"/>
          </p:nvPr>
        </p:nvSpPr>
        <p:spPr>
          <a:xfrm>
            <a:off x="310154" y="143825"/>
            <a:ext cx="688256" cy="368750"/>
          </a:xfrm>
        </p:spPr>
        <p:txBody>
          <a:bodyPr wrap="none" lIns="36000" tIns="36000" rIns="36000" bIns="0" anchor="ctr" anchorCtr="1">
            <a:spAutoFit/>
          </a:bodyPr>
          <a:lstStyle>
            <a:lvl1pPr>
              <a:defRPr sz="24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569" y="202344"/>
            <a:ext cx="1854033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258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 userDrawn="1"/>
        </p:nvSpPr>
        <p:spPr>
          <a:xfrm>
            <a:off x="1" y="620689"/>
            <a:ext cx="12192000" cy="62373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311" tIns="45155" rIns="90311" bIns="4515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633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10832124" y="6346078"/>
            <a:ext cx="1029479" cy="365125"/>
          </a:xfrm>
          <a:prstGeom prst="rect">
            <a:avLst/>
          </a:prstGeom>
        </p:spPr>
        <p:txBody>
          <a:bodyPr lIns="99551" tIns="49775" rIns="99551" bIns="49775"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제목 13"/>
          <p:cNvSpPr>
            <a:spLocks noGrp="1" noChangeAspect="1"/>
          </p:cNvSpPr>
          <p:nvPr>
            <p:ph type="title" hasCustomPrompt="1"/>
          </p:nvPr>
        </p:nvSpPr>
        <p:spPr>
          <a:xfrm>
            <a:off x="356405" y="150750"/>
            <a:ext cx="580287" cy="353701"/>
          </a:xfrm>
        </p:spPr>
        <p:txBody>
          <a:bodyPr wrap="none" lIns="0" tIns="39193" rIns="0" bIns="0" anchor="t" anchorCtr="0">
            <a:spAutoFit/>
          </a:bodyPr>
          <a:lstStyle>
            <a:lvl1pPr>
              <a:defRPr sz="2268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570" y="202344"/>
            <a:ext cx="1854033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2676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68">
          <p15:clr>
            <a:srgbClr val="FBAE40"/>
          </p15:clr>
        </p15:guide>
        <p15:guide id="3" pos="172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06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3ECC5-989A-47D0-9BDE-BAA4BB0682FC}" type="datetime1">
              <a:rPr lang="ko-KR" altLang="en-US" smtClean="0"/>
              <a:pPr/>
              <a:t>2022-06-13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89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3" r:id="rId13"/>
    <p:sldLayoutId id="2147483705" r:id="rId14"/>
    <p:sldLayoutId id="2147483677" r:id="rId15"/>
    <p:sldLayoutId id="2147483706" r:id="rId1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7.wmf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jpeg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20" Type="http://schemas.openxmlformats.org/officeDocument/2006/relationships/image" Target="../media/image8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png"/><Relationship Id="rId11" Type="http://schemas.openxmlformats.org/officeDocument/2006/relationships/image" Target="../media/image17.jpe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oleObject" Target="../embeddings/oleObject2.bin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2228850" cy="365125"/>
          </a:xfrm>
        </p:spPr>
        <p:txBody>
          <a:bodyPr/>
          <a:lstStyle/>
          <a:p>
            <a:fld id="{3588F9CC-F619-49FA-96A7-4406A574E355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735" y="1503948"/>
            <a:ext cx="3912856" cy="89514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845135" y="2906446"/>
            <a:ext cx="68130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2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KIOT</a:t>
            </a:r>
            <a:r>
              <a:rPr lang="ko-KR" altLang="en-US" sz="2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플랫폼 </a:t>
            </a:r>
            <a:r>
              <a:rPr lang="ko-KR" altLang="en-US" sz="2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마이크로서비스</a:t>
            </a:r>
            <a:r>
              <a:rPr lang="ko-KR" altLang="en-US" sz="2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아키텍처</a:t>
            </a:r>
            <a:endParaRPr lang="en-US" altLang="ko-KR" sz="2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845137" y="5867219"/>
            <a:ext cx="280717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0047BA"/>
                </a:solidFill>
              </a:rPr>
              <a:t>Copyright ⓒ </a:t>
            </a:r>
            <a:r>
              <a:rPr lang="en-US" altLang="ko-KR" sz="1000" dirty="0" err="1">
                <a:solidFill>
                  <a:srgbClr val="0047BA"/>
                </a:solidFill>
              </a:rPr>
              <a:t>Kweather</a:t>
            </a:r>
            <a:r>
              <a:rPr lang="en-US" altLang="ko-KR" sz="1000" dirty="0">
                <a:solidFill>
                  <a:srgbClr val="0047BA"/>
                </a:solidFill>
              </a:rPr>
              <a:t>. All rights reserved.</a:t>
            </a:r>
            <a:endParaRPr lang="ko-KR" altLang="en-US" sz="1000" dirty="0">
              <a:solidFill>
                <a:srgbClr val="0047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31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모서리가 둥근 직사각형 246"/>
          <p:cNvSpPr/>
          <p:nvPr/>
        </p:nvSpPr>
        <p:spPr>
          <a:xfrm>
            <a:off x="3310586" y="1617402"/>
            <a:ext cx="893647" cy="33000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KIOT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플랫폼 </a:t>
            </a:r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- Architecture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1B7CFFF-4DC5-473A-9931-3B044331923C}"/>
              </a:ext>
            </a:extLst>
          </p:cNvPr>
          <p:cNvSpPr/>
          <p:nvPr/>
        </p:nvSpPr>
        <p:spPr>
          <a:xfrm>
            <a:off x="864129" y="1408707"/>
            <a:ext cx="1895358" cy="1122467"/>
          </a:xfrm>
          <a:prstGeom prst="rect">
            <a:avLst/>
          </a:prstGeom>
          <a:noFill/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CC6E8EF-6118-4E4B-82EA-5A55C5A49EE2}"/>
              </a:ext>
            </a:extLst>
          </p:cNvPr>
          <p:cNvSpPr/>
          <p:nvPr/>
        </p:nvSpPr>
        <p:spPr>
          <a:xfrm>
            <a:off x="859302" y="1160463"/>
            <a:ext cx="1900186" cy="356217"/>
          </a:xfrm>
          <a:prstGeom prst="rect">
            <a:avLst/>
          </a:prstGeom>
          <a:solidFill>
            <a:srgbClr val="0184F1"/>
          </a:solidFill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KWEATHER </a:t>
            </a:r>
            <a:r>
              <a:rPr lang="en-US" altLang="ko-KR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기상예보</a:t>
            </a:r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6710448-4D31-43CB-9CE4-9C21BFA7D557}"/>
              </a:ext>
            </a:extLst>
          </p:cNvPr>
          <p:cNvGrpSpPr/>
          <p:nvPr/>
        </p:nvGrpSpPr>
        <p:grpSpPr>
          <a:xfrm>
            <a:off x="932041" y="1562147"/>
            <a:ext cx="477661" cy="284631"/>
            <a:chOff x="455561" y="2105244"/>
            <a:chExt cx="496940" cy="296119"/>
          </a:xfrm>
        </p:grpSpPr>
        <p:sp>
          <p:nvSpPr>
            <p:cNvPr id="91" name="자유형: 도형 79">
              <a:extLst>
                <a:ext uri="{FF2B5EF4-FFF2-40B4-BE49-F238E27FC236}">
                  <a16:creationId xmlns:a16="http://schemas.microsoft.com/office/drawing/2014/main" id="{73D9FD63-C5DC-4450-A0B9-F4AA9F0C9FC7}"/>
                </a:ext>
              </a:extLst>
            </p:cNvPr>
            <p:cNvSpPr/>
            <p:nvPr/>
          </p:nvSpPr>
          <p:spPr>
            <a:xfrm>
              <a:off x="465500" y="2110628"/>
              <a:ext cx="238531" cy="285351"/>
            </a:xfrm>
            <a:custGeom>
              <a:avLst/>
              <a:gdLst>
                <a:gd name="connsiteX0" fmla="*/ 3962 w 2128056"/>
                <a:gd name="connsiteY0" fmla="*/ 709355 h 4699463"/>
                <a:gd name="connsiteX1" fmla="*/ 2128057 w 2128056"/>
                <a:gd name="connsiteY1" fmla="*/ 0 h 4699463"/>
                <a:gd name="connsiteX2" fmla="*/ 2128057 w 2128056"/>
                <a:gd name="connsiteY2" fmla="*/ 4699464 h 4699463"/>
                <a:gd name="connsiteX3" fmla="*/ 3962 w 2128056"/>
                <a:gd name="connsiteY3" fmla="*/ 3990108 h 4699463"/>
                <a:gd name="connsiteX4" fmla="*/ 0 w 2128056"/>
                <a:gd name="connsiteY4" fmla="*/ 3990108 h 4699463"/>
                <a:gd name="connsiteX5" fmla="*/ 0 w 2128056"/>
                <a:gd name="connsiteY5" fmla="*/ 709355 h 4699463"/>
                <a:gd name="connsiteX6" fmla="*/ 3962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3962" y="709355"/>
                  </a:moveTo>
                  <a:cubicBezTo>
                    <a:pt x="68799" y="313744"/>
                    <a:pt x="994810" y="0"/>
                    <a:pt x="2128057" y="0"/>
                  </a:cubicBezTo>
                  <a:lnTo>
                    <a:pt x="2128057" y="4699464"/>
                  </a:lnTo>
                  <a:cubicBezTo>
                    <a:pt x="994820" y="4699464"/>
                    <a:pt x="68809" y="4385701"/>
                    <a:pt x="3962" y="3990108"/>
                  </a:cubicBezTo>
                  <a:lnTo>
                    <a:pt x="0" y="3990108"/>
                  </a:lnTo>
                  <a:lnTo>
                    <a:pt x="0" y="709355"/>
                  </a:lnTo>
                  <a:lnTo>
                    <a:pt x="3962" y="7093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" name="자유형: 도형 80">
              <a:extLst>
                <a:ext uri="{FF2B5EF4-FFF2-40B4-BE49-F238E27FC236}">
                  <a16:creationId xmlns:a16="http://schemas.microsoft.com/office/drawing/2014/main" id="{506FF6EA-BEBE-4DEF-9731-EC7A9D174F66}"/>
                </a:ext>
              </a:extLst>
            </p:cNvPr>
            <p:cNvSpPr/>
            <p:nvPr/>
          </p:nvSpPr>
          <p:spPr>
            <a:xfrm>
              <a:off x="704030" y="2110628"/>
              <a:ext cx="238531" cy="285351"/>
            </a:xfrm>
            <a:custGeom>
              <a:avLst/>
              <a:gdLst>
                <a:gd name="connsiteX0" fmla="*/ 2124094 w 2128056"/>
                <a:gd name="connsiteY0" fmla="*/ 709355 h 4699463"/>
                <a:gd name="connsiteX1" fmla="*/ 0 w 2128056"/>
                <a:gd name="connsiteY1" fmla="*/ 0 h 4699463"/>
                <a:gd name="connsiteX2" fmla="*/ 0 w 2128056"/>
                <a:gd name="connsiteY2" fmla="*/ 4699464 h 4699463"/>
                <a:gd name="connsiteX3" fmla="*/ 2124094 w 2128056"/>
                <a:gd name="connsiteY3" fmla="*/ 3990108 h 4699463"/>
                <a:gd name="connsiteX4" fmla="*/ 2128057 w 2128056"/>
                <a:gd name="connsiteY4" fmla="*/ 3990108 h 4699463"/>
                <a:gd name="connsiteX5" fmla="*/ 2128057 w 2128056"/>
                <a:gd name="connsiteY5" fmla="*/ 709355 h 4699463"/>
                <a:gd name="connsiteX6" fmla="*/ 2124094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2124094" y="709355"/>
                  </a:moveTo>
                  <a:cubicBezTo>
                    <a:pt x="2059258" y="313744"/>
                    <a:pt x="1133247" y="0"/>
                    <a:pt x="0" y="0"/>
                  </a:cubicBezTo>
                  <a:lnTo>
                    <a:pt x="0" y="4699464"/>
                  </a:lnTo>
                  <a:cubicBezTo>
                    <a:pt x="1133237" y="4699464"/>
                    <a:pt x="2059248" y="4385701"/>
                    <a:pt x="2124094" y="3990108"/>
                  </a:cubicBezTo>
                  <a:lnTo>
                    <a:pt x="2128057" y="3990108"/>
                  </a:lnTo>
                  <a:lnTo>
                    <a:pt x="2128057" y="709355"/>
                  </a:lnTo>
                  <a:lnTo>
                    <a:pt x="2124094" y="709355"/>
                  </a:lnTo>
                  <a:close/>
                </a:path>
              </a:pathLst>
            </a:custGeom>
            <a:solidFill>
              <a:srgbClr val="7FAC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3" name="그래픽 4">
              <a:extLst>
                <a:ext uri="{FF2B5EF4-FFF2-40B4-BE49-F238E27FC236}">
                  <a16:creationId xmlns:a16="http://schemas.microsoft.com/office/drawing/2014/main" id="{CDA46560-DD88-49B6-AE75-B3E29EB77EDF}"/>
                </a:ext>
              </a:extLst>
            </p:cNvPr>
            <p:cNvGrpSpPr/>
            <p:nvPr/>
          </p:nvGrpSpPr>
          <p:grpSpPr>
            <a:xfrm>
              <a:off x="495316" y="2110628"/>
              <a:ext cx="457185" cy="285351"/>
              <a:chOff x="3483854" y="1430105"/>
              <a:chExt cx="4078785" cy="4699463"/>
            </a:xfrm>
            <a:solidFill>
              <a:srgbClr val="A4C2F7"/>
            </a:solidFill>
          </p:grpSpPr>
          <p:sp>
            <p:nvSpPr>
              <p:cNvPr id="104" name="자유형: 도형 88">
                <a:extLst>
                  <a:ext uri="{FF2B5EF4-FFF2-40B4-BE49-F238E27FC236}">
                    <a16:creationId xmlns:a16="http://schemas.microsoft.com/office/drawing/2014/main" id="{65184F47-23AC-4694-BB2C-CB0C972D5FAB}"/>
                  </a:ext>
                </a:extLst>
              </p:cNvPr>
              <p:cNvSpPr/>
              <p:nvPr/>
            </p:nvSpPr>
            <p:spPr>
              <a:xfrm>
                <a:off x="3483854" y="1430105"/>
                <a:ext cx="3724103" cy="4699463"/>
              </a:xfrm>
              <a:custGeom>
                <a:avLst/>
                <a:gdLst>
                  <a:gd name="connsiteX0" fmla="*/ 3720141 w 3724103"/>
                  <a:gd name="connsiteY0" fmla="*/ 709355 h 4699463"/>
                  <a:gd name="connsiteX1" fmla="*/ 3720141 w 3724103"/>
                  <a:gd name="connsiteY1" fmla="*/ 709355 h 4699463"/>
                  <a:gd name="connsiteX2" fmla="*/ 2128057 w 3724103"/>
                  <a:gd name="connsiteY2" fmla="*/ 0 h 4699463"/>
                  <a:gd name="connsiteX3" fmla="*/ 3962 w 3724103"/>
                  <a:gd name="connsiteY3" fmla="*/ 709355 h 4699463"/>
                  <a:gd name="connsiteX4" fmla="*/ 0 w 3724103"/>
                  <a:gd name="connsiteY4" fmla="*/ 709355 h 4699463"/>
                  <a:gd name="connsiteX5" fmla="*/ 0 w 3724103"/>
                  <a:gd name="connsiteY5" fmla="*/ 3990108 h 4699463"/>
                  <a:gd name="connsiteX6" fmla="*/ 3962 w 3724103"/>
                  <a:gd name="connsiteY6" fmla="*/ 3990108 h 4699463"/>
                  <a:gd name="connsiteX7" fmla="*/ 2128057 w 3724103"/>
                  <a:gd name="connsiteY7" fmla="*/ 4699464 h 4699463"/>
                  <a:gd name="connsiteX8" fmla="*/ 3720141 w 3724103"/>
                  <a:gd name="connsiteY8" fmla="*/ 3990108 h 4699463"/>
                  <a:gd name="connsiteX9" fmla="*/ 3724104 w 3724103"/>
                  <a:gd name="connsiteY9" fmla="*/ 3990108 h 4699463"/>
                  <a:gd name="connsiteX10" fmla="*/ 3724104 w 3724103"/>
                  <a:gd name="connsiteY10" fmla="*/ 709355 h 4699463"/>
                  <a:gd name="connsiteX11" fmla="*/ 3720141 w 3724103"/>
                  <a:gd name="connsiteY11" fmla="*/ 709355 h 4699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24103" h="4699463">
                    <a:moveTo>
                      <a:pt x="3720141" y="709355"/>
                    </a:moveTo>
                    <a:lnTo>
                      <a:pt x="3720141" y="709355"/>
                    </a:lnTo>
                    <a:cubicBezTo>
                      <a:pt x="3655305" y="313744"/>
                      <a:pt x="3261303" y="0"/>
                      <a:pt x="2128057" y="0"/>
                    </a:cubicBezTo>
                    <a:cubicBezTo>
                      <a:pt x="994810" y="0"/>
                      <a:pt x="68799" y="313744"/>
                      <a:pt x="3962" y="709355"/>
                    </a:cubicBezTo>
                    <a:lnTo>
                      <a:pt x="0" y="709355"/>
                    </a:lnTo>
                    <a:lnTo>
                      <a:pt x="0" y="3990108"/>
                    </a:lnTo>
                    <a:lnTo>
                      <a:pt x="3962" y="3990108"/>
                    </a:lnTo>
                    <a:cubicBezTo>
                      <a:pt x="68809" y="4385701"/>
                      <a:pt x="994820" y="4699464"/>
                      <a:pt x="2128057" y="4699464"/>
                    </a:cubicBezTo>
                    <a:cubicBezTo>
                      <a:pt x="3261294" y="4699464"/>
                      <a:pt x="3655295" y="4385701"/>
                      <a:pt x="3720141" y="3990108"/>
                    </a:cubicBezTo>
                    <a:lnTo>
                      <a:pt x="3724104" y="3990108"/>
                    </a:lnTo>
                    <a:lnTo>
                      <a:pt x="3724104" y="709355"/>
                    </a:lnTo>
                    <a:lnTo>
                      <a:pt x="3720141" y="709355"/>
                    </a:ln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5" name="자유형: 도형 89">
                <a:extLst>
                  <a:ext uri="{FF2B5EF4-FFF2-40B4-BE49-F238E27FC236}">
                    <a16:creationId xmlns:a16="http://schemas.microsoft.com/office/drawing/2014/main" id="{EB0E78C9-11CD-4A21-9CE2-C83F99F15951}"/>
                  </a:ext>
                </a:extLst>
              </p:cNvPr>
              <p:cNvSpPr/>
              <p:nvPr/>
            </p:nvSpPr>
            <p:spPr>
              <a:xfrm>
                <a:off x="3572522" y="1430105"/>
                <a:ext cx="3990117" cy="1596047"/>
              </a:xfrm>
              <a:custGeom>
                <a:avLst/>
                <a:gdLst>
                  <a:gd name="connsiteX0" fmla="*/ 3990118 w 3990117"/>
                  <a:gd name="connsiteY0" fmla="*/ 798024 h 1596047"/>
                  <a:gd name="connsiteX1" fmla="*/ 1995059 w 3990117"/>
                  <a:gd name="connsiteY1" fmla="*/ 1596047 h 1596047"/>
                  <a:gd name="connsiteX2" fmla="*/ 0 w 3990117"/>
                  <a:gd name="connsiteY2" fmla="*/ 798024 h 1596047"/>
                  <a:gd name="connsiteX3" fmla="*/ 1995059 w 3990117"/>
                  <a:gd name="connsiteY3" fmla="*/ 0 h 1596047"/>
                  <a:gd name="connsiteX4" fmla="*/ 3990118 w 3990117"/>
                  <a:gd name="connsiteY4" fmla="*/ 798024 h 159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90117" h="1596047">
                    <a:moveTo>
                      <a:pt x="3990118" y="798024"/>
                    </a:moveTo>
                    <a:cubicBezTo>
                      <a:pt x="3990118" y="1238760"/>
                      <a:pt x="3096900" y="1596047"/>
                      <a:pt x="1995059" y="1596047"/>
                    </a:cubicBezTo>
                    <a:cubicBezTo>
                      <a:pt x="893218" y="1596047"/>
                      <a:pt x="0" y="1238760"/>
                      <a:pt x="0" y="798024"/>
                    </a:cubicBezTo>
                    <a:cubicBezTo>
                      <a:pt x="0" y="357287"/>
                      <a:pt x="893218" y="0"/>
                      <a:pt x="1995059" y="0"/>
                    </a:cubicBezTo>
                    <a:cubicBezTo>
                      <a:pt x="3096900" y="0"/>
                      <a:pt x="3990118" y="357287"/>
                      <a:pt x="3990118" y="798024"/>
                    </a:cubicBez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94" name="자유형: 도형 82">
              <a:extLst>
                <a:ext uri="{FF2B5EF4-FFF2-40B4-BE49-F238E27FC236}">
                  <a16:creationId xmlns:a16="http://schemas.microsoft.com/office/drawing/2014/main" id="{CE94974F-634B-42CA-AE52-67362966ADE4}"/>
                </a:ext>
              </a:extLst>
            </p:cNvPr>
            <p:cNvSpPr/>
            <p:nvPr/>
          </p:nvSpPr>
          <p:spPr>
            <a:xfrm>
              <a:off x="465499" y="2110628"/>
              <a:ext cx="447246" cy="96912"/>
            </a:xfrm>
            <a:custGeom>
              <a:avLst/>
              <a:gdLst>
                <a:gd name="connsiteX0" fmla="*/ 3990118 w 3990117"/>
                <a:gd name="connsiteY0" fmla="*/ 798024 h 1596047"/>
                <a:gd name="connsiteX1" fmla="*/ 1995059 w 3990117"/>
                <a:gd name="connsiteY1" fmla="*/ 1596047 h 1596047"/>
                <a:gd name="connsiteX2" fmla="*/ 0 w 3990117"/>
                <a:gd name="connsiteY2" fmla="*/ 798024 h 1596047"/>
                <a:gd name="connsiteX3" fmla="*/ 1995059 w 3990117"/>
                <a:gd name="connsiteY3" fmla="*/ 0 h 1596047"/>
                <a:gd name="connsiteX4" fmla="*/ 3990118 w 3990117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90117" h="1596047">
                  <a:moveTo>
                    <a:pt x="3990118" y="798024"/>
                  </a:moveTo>
                  <a:cubicBezTo>
                    <a:pt x="3990118" y="1238760"/>
                    <a:pt x="3096900" y="1596047"/>
                    <a:pt x="1995059" y="1596047"/>
                  </a:cubicBezTo>
                  <a:cubicBezTo>
                    <a:pt x="893218" y="1596047"/>
                    <a:pt x="0" y="1238760"/>
                    <a:pt x="0" y="798024"/>
                  </a:cubicBezTo>
                  <a:cubicBezTo>
                    <a:pt x="0" y="357287"/>
                    <a:pt x="893218" y="0"/>
                    <a:pt x="1995059" y="0"/>
                  </a:cubicBezTo>
                  <a:cubicBezTo>
                    <a:pt x="3096899" y="0"/>
                    <a:pt x="3990118" y="357287"/>
                    <a:pt x="3990118" y="79802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5" name="자유형: 도형 83">
              <a:extLst>
                <a:ext uri="{FF2B5EF4-FFF2-40B4-BE49-F238E27FC236}">
                  <a16:creationId xmlns:a16="http://schemas.microsoft.com/office/drawing/2014/main" id="{93EE5564-D878-4529-AADE-3DF4F28E12C0}"/>
                </a:ext>
              </a:extLst>
            </p:cNvPr>
            <p:cNvSpPr/>
            <p:nvPr/>
          </p:nvSpPr>
          <p:spPr>
            <a:xfrm>
              <a:off x="495316" y="2110628"/>
              <a:ext cx="417429" cy="96912"/>
            </a:xfrm>
            <a:custGeom>
              <a:avLst/>
              <a:gdLst>
                <a:gd name="connsiteX0" fmla="*/ 3724104 w 3724103"/>
                <a:gd name="connsiteY0" fmla="*/ 798024 h 1596047"/>
                <a:gd name="connsiteX1" fmla="*/ 1862052 w 3724103"/>
                <a:gd name="connsiteY1" fmla="*/ 1596047 h 1596047"/>
                <a:gd name="connsiteX2" fmla="*/ 0 w 3724103"/>
                <a:gd name="connsiteY2" fmla="*/ 798024 h 1596047"/>
                <a:gd name="connsiteX3" fmla="*/ 1862052 w 3724103"/>
                <a:gd name="connsiteY3" fmla="*/ 0 h 1596047"/>
                <a:gd name="connsiteX4" fmla="*/ 3724104 w 3724103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4103" h="1596047">
                  <a:moveTo>
                    <a:pt x="3724104" y="798024"/>
                  </a:moveTo>
                  <a:cubicBezTo>
                    <a:pt x="3724104" y="1238760"/>
                    <a:pt x="2890435" y="1596047"/>
                    <a:pt x="1862052" y="1596047"/>
                  </a:cubicBezTo>
                  <a:cubicBezTo>
                    <a:pt x="833669" y="1596047"/>
                    <a:pt x="0" y="1238760"/>
                    <a:pt x="0" y="798024"/>
                  </a:cubicBezTo>
                  <a:cubicBezTo>
                    <a:pt x="0" y="357287"/>
                    <a:pt x="833669" y="0"/>
                    <a:pt x="1862052" y="0"/>
                  </a:cubicBezTo>
                  <a:cubicBezTo>
                    <a:pt x="2890435" y="0"/>
                    <a:pt x="3724104" y="357287"/>
                    <a:pt x="3724104" y="798024"/>
                  </a:cubicBezTo>
                  <a:close/>
                </a:path>
              </a:pathLst>
            </a:custGeom>
            <a:solidFill>
              <a:srgbClr val="D4E1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6" name="그래픽 4">
              <a:extLst>
                <a:ext uri="{FF2B5EF4-FFF2-40B4-BE49-F238E27FC236}">
                  <a16:creationId xmlns:a16="http://schemas.microsoft.com/office/drawing/2014/main" id="{6FF2B611-ABBC-4897-B8AE-8AA7B80780A7}"/>
                </a:ext>
              </a:extLst>
            </p:cNvPr>
            <p:cNvGrpSpPr/>
            <p:nvPr/>
          </p:nvGrpSpPr>
          <p:grpSpPr>
            <a:xfrm>
              <a:off x="455561" y="2105244"/>
              <a:ext cx="496940" cy="296119"/>
              <a:chOff x="3129181" y="1341437"/>
              <a:chExt cx="4433459" cy="4876800"/>
            </a:xfrm>
            <a:solidFill>
              <a:srgbClr val="428DFF"/>
            </a:solidFill>
          </p:grpSpPr>
          <p:sp>
            <p:nvSpPr>
              <p:cNvPr id="97" name="자유형: 도형 85">
                <a:extLst>
                  <a:ext uri="{FF2B5EF4-FFF2-40B4-BE49-F238E27FC236}">
                    <a16:creationId xmlns:a16="http://schemas.microsoft.com/office/drawing/2014/main" id="{CEEC7262-27E5-4462-B21E-93D85562B095}"/>
                  </a:ext>
                </a:extLst>
              </p:cNvPr>
              <p:cNvSpPr/>
              <p:nvPr/>
            </p:nvSpPr>
            <p:spPr>
              <a:xfrm>
                <a:off x="3129181" y="1341437"/>
                <a:ext cx="4433459" cy="4876800"/>
              </a:xfrm>
              <a:custGeom>
                <a:avLst/>
                <a:gdLst>
                  <a:gd name="connsiteX0" fmla="*/ 2216725 w 4433459"/>
                  <a:gd name="connsiteY0" fmla="*/ 4876800 h 4876800"/>
                  <a:gd name="connsiteX1" fmla="*/ 10392 w 4433459"/>
                  <a:gd name="connsiteY1" fmla="*/ 4118782 h 4876800"/>
                  <a:gd name="connsiteX2" fmla="*/ 0 w 4433459"/>
                  <a:gd name="connsiteY2" fmla="*/ 4078776 h 4876800"/>
                  <a:gd name="connsiteX3" fmla="*/ 0 w 4433459"/>
                  <a:gd name="connsiteY3" fmla="*/ 798024 h 4876800"/>
                  <a:gd name="connsiteX4" fmla="*/ 11087 w 4433459"/>
                  <a:gd name="connsiteY4" fmla="*/ 755075 h 4876800"/>
                  <a:gd name="connsiteX5" fmla="*/ 2216725 w 4433459"/>
                  <a:gd name="connsiteY5" fmla="*/ 0 h 4876800"/>
                  <a:gd name="connsiteX6" fmla="*/ 4422372 w 4433459"/>
                  <a:gd name="connsiteY6" fmla="*/ 755075 h 4876800"/>
                  <a:gd name="connsiteX7" fmla="*/ 4433459 w 4433459"/>
                  <a:gd name="connsiteY7" fmla="*/ 798024 h 4876800"/>
                  <a:gd name="connsiteX8" fmla="*/ 4433459 w 4433459"/>
                  <a:gd name="connsiteY8" fmla="*/ 4078776 h 4876800"/>
                  <a:gd name="connsiteX9" fmla="*/ 4422372 w 4433459"/>
                  <a:gd name="connsiteY9" fmla="*/ 4121725 h 4876800"/>
                  <a:gd name="connsiteX10" fmla="*/ 2216725 w 4433459"/>
                  <a:gd name="connsiteY10" fmla="*/ 4876800 h 4876800"/>
                  <a:gd name="connsiteX11" fmla="*/ 177337 w 4433459"/>
                  <a:gd name="connsiteY11" fmla="*/ 4052802 h 4876800"/>
                  <a:gd name="connsiteX12" fmla="*/ 180194 w 4433459"/>
                  <a:gd name="connsiteY12" fmla="*/ 4064403 h 4876800"/>
                  <a:gd name="connsiteX13" fmla="*/ 2216725 w 4433459"/>
                  <a:gd name="connsiteY13" fmla="*/ 4699464 h 4876800"/>
                  <a:gd name="connsiteX14" fmla="*/ 4253256 w 4433459"/>
                  <a:gd name="connsiteY14" fmla="*/ 4064403 h 4876800"/>
                  <a:gd name="connsiteX15" fmla="*/ 4256114 w 4433459"/>
                  <a:gd name="connsiteY15" fmla="*/ 4052450 h 4876800"/>
                  <a:gd name="connsiteX16" fmla="*/ 4256114 w 4433459"/>
                  <a:gd name="connsiteY16" fmla="*/ 823998 h 4876800"/>
                  <a:gd name="connsiteX17" fmla="*/ 4253256 w 4433459"/>
                  <a:gd name="connsiteY17" fmla="*/ 812311 h 4876800"/>
                  <a:gd name="connsiteX18" fmla="*/ 2216725 w 4433459"/>
                  <a:gd name="connsiteY18" fmla="*/ 177336 h 4876800"/>
                  <a:gd name="connsiteX19" fmla="*/ 180194 w 4433459"/>
                  <a:gd name="connsiteY19" fmla="*/ 812311 h 4876800"/>
                  <a:gd name="connsiteX20" fmla="*/ 177337 w 4433459"/>
                  <a:gd name="connsiteY20" fmla="*/ 824351 h 4876800"/>
                  <a:gd name="connsiteX21" fmla="*/ 177337 w 4433459"/>
                  <a:gd name="connsiteY21" fmla="*/ 4052802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59" h="4876800">
                    <a:moveTo>
                      <a:pt x="2216725" y="4876800"/>
                    </a:moveTo>
                    <a:cubicBezTo>
                      <a:pt x="1051989" y="4876800"/>
                      <a:pt x="115081" y="4552779"/>
                      <a:pt x="10392" y="4118782"/>
                    </a:cubicBezTo>
                    <a:cubicBezTo>
                      <a:pt x="3620" y="4106532"/>
                      <a:pt x="38" y="4092769"/>
                      <a:pt x="0" y="4078776"/>
                    </a:cubicBezTo>
                    <a:lnTo>
                      <a:pt x="0" y="798024"/>
                    </a:lnTo>
                    <a:cubicBezTo>
                      <a:pt x="-38" y="782993"/>
                      <a:pt x="3772" y="768210"/>
                      <a:pt x="11087" y="755075"/>
                    </a:cubicBezTo>
                    <a:cubicBezTo>
                      <a:pt x="119149" y="322640"/>
                      <a:pt x="1054504" y="0"/>
                      <a:pt x="2216725" y="0"/>
                    </a:cubicBezTo>
                    <a:cubicBezTo>
                      <a:pt x="3378947" y="0"/>
                      <a:pt x="4314302" y="322640"/>
                      <a:pt x="4422372" y="755075"/>
                    </a:cubicBezTo>
                    <a:cubicBezTo>
                      <a:pt x="4429678" y="768210"/>
                      <a:pt x="4433497" y="782993"/>
                      <a:pt x="4433459" y="798024"/>
                    </a:cubicBezTo>
                    <a:lnTo>
                      <a:pt x="4433459" y="4078776"/>
                    </a:lnTo>
                    <a:cubicBezTo>
                      <a:pt x="4433497" y="4093807"/>
                      <a:pt x="4429688" y="4108590"/>
                      <a:pt x="4422372" y="4121725"/>
                    </a:cubicBezTo>
                    <a:cubicBezTo>
                      <a:pt x="4314216" y="4554160"/>
                      <a:pt x="3378861" y="4876800"/>
                      <a:pt x="2216725" y="4876800"/>
                    </a:cubicBezTo>
                    <a:close/>
                    <a:moveTo>
                      <a:pt x="177337" y="4052802"/>
                    </a:moveTo>
                    <a:cubicBezTo>
                      <a:pt x="178565" y="4056593"/>
                      <a:pt x="179518" y="4060479"/>
                      <a:pt x="180194" y="4064403"/>
                    </a:cubicBezTo>
                    <a:cubicBezTo>
                      <a:pt x="230420" y="4371108"/>
                      <a:pt x="1060828" y="4699464"/>
                      <a:pt x="2216725" y="4699464"/>
                    </a:cubicBezTo>
                    <a:cubicBezTo>
                      <a:pt x="3372622" y="4699464"/>
                      <a:pt x="4203031" y="4371108"/>
                      <a:pt x="4253256" y="4064403"/>
                    </a:cubicBezTo>
                    <a:cubicBezTo>
                      <a:pt x="4253942" y="4060365"/>
                      <a:pt x="4254894" y="4056364"/>
                      <a:pt x="4256114" y="4052450"/>
                    </a:cubicBezTo>
                    <a:lnTo>
                      <a:pt x="4256114" y="823998"/>
                    </a:lnTo>
                    <a:cubicBezTo>
                      <a:pt x="4254885" y="820169"/>
                      <a:pt x="4253932" y="816264"/>
                      <a:pt x="4253256" y="812311"/>
                    </a:cubicBezTo>
                    <a:cubicBezTo>
                      <a:pt x="4203116" y="505692"/>
                      <a:pt x="3372803" y="177336"/>
                      <a:pt x="2216725" y="177336"/>
                    </a:cubicBezTo>
                    <a:cubicBezTo>
                      <a:pt x="1060647" y="177336"/>
                      <a:pt x="230334" y="505692"/>
                      <a:pt x="180194" y="812311"/>
                    </a:cubicBezTo>
                    <a:cubicBezTo>
                      <a:pt x="179518" y="816388"/>
                      <a:pt x="178565" y="820407"/>
                      <a:pt x="177337" y="824351"/>
                    </a:cubicBezTo>
                    <a:lnTo>
                      <a:pt x="177337" y="4052802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8" name="자유형: 도형 86">
                <a:extLst>
                  <a:ext uri="{FF2B5EF4-FFF2-40B4-BE49-F238E27FC236}">
                    <a16:creationId xmlns:a16="http://schemas.microsoft.com/office/drawing/2014/main" id="{E65E109C-2662-47F1-BB80-A06280E41792}"/>
                  </a:ext>
                </a:extLst>
              </p:cNvPr>
              <p:cNvSpPr/>
              <p:nvPr/>
            </p:nvSpPr>
            <p:spPr>
              <a:xfrm>
                <a:off x="3129181" y="3292157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2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2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0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2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2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3" name="자유형: 도형 87">
                <a:extLst>
                  <a:ext uri="{FF2B5EF4-FFF2-40B4-BE49-F238E27FC236}">
                    <a16:creationId xmlns:a16="http://schemas.microsoft.com/office/drawing/2014/main" id="{1CE07A5C-E594-4704-B491-F9846A4E03DF}"/>
                  </a:ext>
                </a:extLst>
              </p:cNvPr>
              <p:cNvSpPr/>
              <p:nvPr/>
            </p:nvSpPr>
            <p:spPr>
              <a:xfrm>
                <a:off x="3129181" y="2228128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1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1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1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1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1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954B1AC-0084-4213-A428-9D054764D0BC}"/>
              </a:ext>
            </a:extLst>
          </p:cNvPr>
          <p:cNvSpPr/>
          <p:nvPr/>
        </p:nvSpPr>
        <p:spPr>
          <a:xfrm>
            <a:off x="1438360" y="1585058"/>
            <a:ext cx="1251213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기상</a:t>
            </a:r>
            <a:r>
              <a:rPr lang="en-US" altLang="ko-KR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장기</a:t>
            </a:r>
            <a:r>
              <a:rPr lang="en-US" altLang="ko-KR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전담 예보</a:t>
            </a:r>
          </a:p>
        </p:txBody>
      </p:sp>
      <p:grpSp>
        <p:nvGrpSpPr>
          <p:cNvPr id="107" name="그래픽 4">
            <a:extLst>
              <a:ext uri="{FF2B5EF4-FFF2-40B4-BE49-F238E27FC236}">
                <a16:creationId xmlns:a16="http://schemas.microsoft.com/office/drawing/2014/main" id="{C7F19916-988D-49F9-A7DB-D1D42D3E1E0A}"/>
              </a:ext>
            </a:extLst>
          </p:cNvPr>
          <p:cNvGrpSpPr/>
          <p:nvPr/>
        </p:nvGrpSpPr>
        <p:grpSpPr>
          <a:xfrm>
            <a:off x="932041" y="1872410"/>
            <a:ext cx="477661" cy="284631"/>
            <a:chOff x="3129181" y="1341437"/>
            <a:chExt cx="4433459" cy="4876800"/>
          </a:xfrm>
        </p:grpSpPr>
        <p:sp>
          <p:nvSpPr>
            <p:cNvPr id="108" name="자유형: 도형 92">
              <a:extLst>
                <a:ext uri="{FF2B5EF4-FFF2-40B4-BE49-F238E27FC236}">
                  <a16:creationId xmlns:a16="http://schemas.microsoft.com/office/drawing/2014/main" id="{4F724250-9981-4E1E-96D1-CADA937B7F0C}"/>
                </a:ext>
              </a:extLst>
            </p:cNvPr>
            <p:cNvSpPr/>
            <p:nvPr/>
          </p:nvSpPr>
          <p:spPr>
            <a:xfrm>
              <a:off x="3217849" y="1430105"/>
              <a:ext cx="2128056" cy="4699463"/>
            </a:xfrm>
            <a:custGeom>
              <a:avLst/>
              <a:gdLst>
                <a:gd name="connsiteX0" fmla="*/ 3962 w 2128056"/>
                <a:gd name="connsiteY0" fmla="*/ 709355 h 4699463"/>
                <a:gd name="connsiteX1" fmla="*/ 2128057 w 2128056"/>
                <a:gd name="connsiteY1" fmla="*/ 0 h 4699463"/>
                <a:gd name="connsiteX2" fmla="*/ 2128057 w 2128056"/>
                <a:gd name="connsiteY2" fmla="*/ 4699464 h 4699463"/>
                <a:gd name="connsiteX3" fmla="*/ 3962 w 2128056"/>
                <a:gd name="connsiteY3" fmla="*/ 3990108 h 4699463"/>
                <a:gd name="connsiteX4" fmla="*/ 0 w 2128056"/>
                <a:gd name="connsiteY4" fmla="*/ 3990108 h 4699463"/>
                <a:gd name="connsiteX5" fmla="*/ 0 w 2128056"/>
                <a:gd name="connsiteY5" fmla="*/ 709355 h 4699463"/>
                <a:gd name="connsiteX6" fmla="*/ 3962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3962" y="709355"/>
                  </a:moveTo>
                  <a:cubicBezTo>
                    <a:pt x="68799" y="313744"/>
                    <a:pt x="994810" y="0"/>
                    <a:pt x="2128057" y="0"/>
                  </a:cubicBezTo>
                  <a:lnTo>
                    <a:pt x="2128057" y="4699464"/>
                  </a:lnTo>
                  <a:cubicBezTo>
                    <a:pt x="994820" y="4699464"/>
                    <a:pt x="68809" y="4385701"/>
                    <a:pt x="3962" y="3990108"/>
                  </a:cubicBezTo>
                  <a:lnTo>
                    <a:pt x="0" y="3990108"/>
                  </a:lnTo>
                  <a:lnTo>
                    <a:pt x="0" y="709355"/>
                  </a:lnTo>
                  <a:lnTo>
                    <a:pt x="3962" y="7093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9" name="자유형: 도형 93">
              <a:extLst>
                <a:ext uri="{FF2B5EF4-FFF2-40B4-BE49-F238E27FC236}">
                  <a16:creationId xmlns:a16="http://schemas.microsoft.com/office/drawing/2014/main" id="{8D547381-D235-4217-95E0-2B17DEEB91E1}"/>
                </a:ext>
              </a:extLst>
            </p:cNvPr>
            <p:cNvSpPr/>
            <p:nvPr/>
          </p:nvSpPr>
          <p:spPr>
            <a:xfrm>
              <a:off x="5345906" y="1430105"/>
              <a:ext cx="2128056" cy="4699463"/>
            </a:xfrm>
            <a:custGeom>
              <a:avLst/>
              <a:gdLst>
                <a:gd name="connsiteX0" fmla="*/ 2124094 w 2128056"/>
                <a:gd name="connsiteY0" fmla="*/ 709355 h 4699463"/>
                <a:gd name="connsiteX1" fmla="*/ 0 w 2128056"/>
                <a:gd name="connsiteY1" fmla="*/ 0 h 4699463"/>
                <a:gd name="connsiteX2" fmla="*/ 0 w 2128056"/>
                <a:gd name="connsiteY2" fmla="*/ 4699464 h 4699463"/>
                <a:gd name="connsiteX3" fmla="*/ 2124094 w 2128056"/>
                <a:gd name="connsiteY3" fmla="*/ 3990108 h 4699463"/>
                <a:gd name="connsiteX4" fmla="*/ 2128057 w 2128056"/>
                <a:gd name="connsiteY4" fmla="*/ 3990108 h 4699463"/>
                <a:gd name="connsiteX5" fmla="*/ 2128057 w 2128056"/>
                <a:gd name="connsiteY5" fmla="*/ 709355 h 4699463"/>
                <a:gd name="connsiteX6" fmla="*/ 2124094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2124094" y="709355"/>
                  </a:moveTo>
                  <a:cubicBezTo>
                    <a:pt x="2059258" y="313744"/>
                    <a:pt x="1133247" y="0"/>
                    <a:pt x="0" y="0"/>
                  </a:cubicBezTo>
                  <a:lnTo>
                    <a:pt x="0" y="4699464"/>
                  </a:lnTo>
                  <a:cubicBezTo>
                    <a:pt x="1133237" y="4699464"/>
                    <a:pt x="2059248" y="4385701"/>
                    <a:pt x="2124094" y="3990108"/>
                  </a:cubicBezTo>
                  <a:lnTo>
                    <a:pt x="2128057" y="3990108"/>
                  </a:lnTo>
                  <a:lnTo>
                    <a:pt x="2128057" y="709355"/>
                  </a:lnTo>
                  <a:lnTo>
                    <a:pt x="2124094" y="709355"/>
                  </a:lnTo>
                  <a:close/>
                </a:path>
              </a:pathLst>
            </a:custGeom>
            <a:solidFill>
              <a:srgbClr val="7FAC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10" name="그래픽 4">
              <a:extLst>
                <a:ext uri="{FF2B5EF4-FFF2-40B4-BE49-F238E27FC236}">
                  <a16:creationId xmlns:a16="http://schemas.microsoft.com/office/drawing/2014/main" id="{9028F855-EA49-43F1-A42C-164C6BC0639F}"/>
                </a:ext>
              </a:extLst>
            </p:cNvPr>
            <p:cNvGrpSpPr/>
            <p:nvPr/>
          </p:nvGrpSpPr>
          <p:grpSpPr>
            <a:xfrm>
              <a:off x="3483854" y="1430105"/>
              <a:ext cx="4078785" cy="4699463"/>
              <a:chOff x="3483854" y="1430105"/>
              <a:chExt cx="4078785" cy="4699463"/>
            </a:xfrm>
            <a:solidFill>
              <a:srgbClr val="A4C2F7"/>
            </a:solidFill>
          </p:grpSpPr>
          <p:sp>
            <p:nvSpPr>
              <p:cNvPr id="117" name="자유형: 도형 101">
                <a:extLst>
                  <a:ext uri="{FF2B5EF4-FFF2-40B4-BE49-F238E27FC236}">
                    <a16:creationId xmlns:a16="http://schemas.microsoft.com/office/drawing/2014/main" id="{5744D548-D0CD-434A-9891-BDD994C34393}"/>
                  </a:ext>
                </a:extLst>
              </p:cNvPr>
              <p:cNvSpPr/>
              <p:nvPr/>
            </p:nvSpPr>
            <p:spPr>
              <a:xfrm>
                <a:off x="3483854" y="1430105"/>
                <a:ext cx="3724103" cy="4699463"/>
              </a:xfrm>
              <a:custGeom>
                <a:avLst/>
                <a:gdLst>
                  <a:gd name="connsiteX0" fmla="*/ 3720141 w 3724103"/>
                  <a:gd name="connsiteY0" fmla="*/ 709355 h 4699463"/>
                  <a:gd name="connsiteX1" fmla="*/ 3720141 w 3724103"/>
                  <a:gd name="connsiteY1" fmla="*/ 709355 h 4699463"/>
                  <a:gd name="connsiteX2" fmla="*/ 2128057 w 3724103"/>
                  <a:gd name="connsiteY2" fmla="*/ 0 h 4699463"/>
                  <a:gd name="connsiteX3" fmla="*/ 3962 w 3724103"/>
                  <a:gd name="connsiteY3" fmla="*/ 709355 h 4699463"/>
                  <a:gd name="connsiteX4" fmla="*/ 0 w 3724103"/>
                  <a:gd name="connsiteY4" fmla="*/ 709355 h 4699463"/>
                  <a:gd name="connsiteX5" fmla="*/ 0 w 3724103"/>
                  <a:gd name="connsiteY5" fmla="*/ 3990108 h 4699463"/>
                  <a:gd name="connsiteX6" fmla="*/ 3962 w 3724103"/>
                  <a:gd name="connsiteY6" fmla="*/ 3990108 h 4699463"/>
                  <a:gd name="connsiteX7" fmla="*/ 2128057 w 3724103"/>
                  <a:gd name="connsiteY7" fmla="*/ 4699464 h 4699463"/>
                  <a:gd name="connsiteX8" fmla="*/ 3720141 w 3724103"/>
                  <a:gd name="connsiteY8" fmla="*/ 3990108 h 4699463"/>
                  <a:gd name="connsiteX9" fmla="*/ 3724104 w 3724103"/>
                  <a:gd name="connsiteY9" fmla="*/ 3990108 h 4699463"/>
                  <a:gd name="connsiteX10" fmla="*/ 3724104 w 3724103"/>
                  <a:gd name="connsiteY10" fmla="*/ 709355 h 4699463"/>
                  <a:gd name="connsiteX11" fmla="*/ 3720141 w 3724103"/>
                  <a:gd name="connsiteY11" fmla="*/ 709355 h 4699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24103" h="4699463">
                    <a:moveTo>
                      <a:pt x="3720141" y="709355"/>
                    </a:moveTo>
                    <a:lnTo>
                      <a:pt x="3720141" y="709355"/>
                    </a:lnTo>
                    <a:cubicBezTo>
                      <a:pt x="3655305" y="313744"/>
                      <a:pt x="3261303" y="0"/>
                      <a:pt x="2128057" y="0"/>
                    </a:cubicBezTo>
                    <a:cubicBezTo>
                      <a:pt x="994810" y="0"/>
                      <a:pt x="68799" y="313744"/>
                      <a:pt x="3962" y="709355"/>
                    </a:cubicBezTo>
                    <a:lnTo>
                      <a:pt x="0" y="709355"/>
                    </a:lnTo>
                    <a:lnTo>
                      <a:pt x="0" y="3990108"/>
                    </a:lnTo>
                    <a:lnTo>
                      <a:pt x="3962" y="3990108"/>
                    </a:lnTo>
                    <a:cubicBezTo>
                      <a:pt x="68809" y="4385701"/>
                      <a:pt x="994820" y="4699464"/>
                      <a:pt x="2128057" y="4699464"/>
                    </a:cubicBezTo>
                    <a:cubicBezTo>
                      <a:pt x="3261294" y="4699464"/>
                      <a:pt x="3655295" y="4385701"/>
                      <a:pt x="3720141" y="3990108"/>
                    </a:cubicBezTo>
                    <a:lnTo>
                      <a:pt x="3724104" y="3990108"/>
                    </a:lnTo>
                    <a:lnTo>
                      <a:pt x="3724104" y="709355"/>
                    </a:lnTo>
                    <a:lnTo>
                      <a:pt x="3720141" y="709355"/>
                    </a:ln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8" name="자유형: 도형 102">
                <a:extLst>
                  <a:ext uri="{FF2B5EF4-FFF2-40B4-BE49-F238E27FC236}">
                    <a16:creationId xmlns:a16="http://schemas.microsoft.com/office/drawing/2014/main" id="{82DC2D60-2926-4E3D-B325-547F30CCF10E}"/>
                  </a:ext>
                </a:extLst>
              </p:cNvPr>
              <p:cNvSpPr/>
              <p:nvPr/>
            </p:nvSpPr>
            <p:spPr>
              <a:xfrm>
                <a:off x="3572522" y="1430105"/>
                <a:ext cx="3990117" cy="1596047"/>
              </a:xfrm>
              <a:custGeom>
                <a:avLst/>
                <a:gdLst>
                  <a:gd name="connsiteX0" fmla="*/ 3990118 w 3990117"/>
                  <a:gd name="connsiteY0" fmla="*/ 798024 h 1596047"/>
                  <a:gd name="connsiteX1" fmla="*/ 1995059 w 3990117"/>
                  <a:gd name="connsiteY1" fmla="*/ 1596047 h 1596047"/>
                  <a:gd name="connsiteX2" fmla="*/ 0 w 3990117"/>
                  <a:gd name="connsiteY2" fmla="*/ 798024 h 1596047"/>
                  <a:gd name="connsiteX3" fmla="*/ 1995059 w 3990117"/>
                  <a:gd name="connsiteY3" fmla="*/ 0 h 1596047"/>
                  <a:gd name="connsiteX4" fmla="*/ 3990118 w 3990117"/>
                  <a:gd name="connsiteY4" fmla="*/ 798024 h 159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90117" h="1596047">
                    <a:moveTo>
                      <a:pt x="3990118" y="798024"/>
                    </a:moveTo>
                    <a:cubicBezTo>
                      <a:pt x="3990118" y="1238760"/>
                      <a:pt x="3096900" y="1596047"/>
                      <a:pt x="1995059" y="1596047"/>
                    </a:cubicBezTo>
                    <a:cubicBezTo>
                      <a:pt x="893218" y="1596047"/>
                      <a:pt x="0" y="1238760"/>
                      <a:pt x="0" y="798024"/>
                    </a:cubicBezTo>
                    <a:cubicBezTo>
                      <a:pt x="0" y="357287"/>
                      <a:pt x="893218" y="0"/>
                      <a:pt x="1995059" y="0"/>
                    </a:cubicBezTo>
                    <a:cubicBezTo>
                      <a:pt x="3096900" y="0"/>
                      <a:pt x="3990118" y="357287"/>
                      <a:pt x="3990118" y="798024"/>
                    </a:cubicBez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11" name="자유형: 도형 95">
              <a:extLst>
                <a:ext uri="{FF2B5EF4-FFF2-40B4-BE49-F238E27FC236}">
                  <a16:creationId xmlns:a16="http://schemas.microsoft.com/office/drawing/2014/main" id="{EBF5ABC6-31D8-4385-8B9A-D21B20B963B4}"/>
                </a:ext>
              </a:extLst>
            </p:cNvPr>
            <p:cNvSpPr/>
            <p:nvPr/>
          </p:nvSpPr>
          <p:spPr>
            <a:xfrm>
              <a:off x="3217840" y="1430105"/>
              <a:ext cx="3990117" cy="1596047"/>
            </a:xfrm>
            <a:custGeom>
              <a:avLst/>
              <a:gdLst>
                <a:gd name="connsiteX0" fmla="*/ 3990118 w 3990117"/>
                <a:gd name="connsiteY0" fmla="*/ 798024 h 1596047"/>
                <a:gd name="connsiteX1" fmla="*/ 1995059 w 3990117"/>
                <a:gd name="connsiteY1" fmla="*/ 1596047 h 1596047"/>
                <a:gd name="connsiteX2" fmla="*/ 0 w 3990117"/>
                <a:gd name="connsiteY2" fmla="*/ 798024 h 1596047"/>
                <a:gd name="connsiteX3" fmla="*/ 1995059 w 3990117"/>
                <a:gd name="connsiteY3" fmla="*/ 0 h 1596047"/>
                <a:gd name="connsiteX4" fmla="*/ 3990118 w 3990117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90117" h="1596047">
                  <a:moveTo>
                    <a:pt x="3990118" y="798024"/>
                  </a:moveTo>
                  <a:cubicBezTo>
                    <a:pt x="3990118" y="1238760"/>
                    <a:pt x="3096900" y="1596047"/>
                    <a:pt x="1995059" y="1596047"/>
                  </a:cubicBezTo>
                  <a:cubicBezTo>
                    <a:pt x="893218" y="1596047"/>
                    <a:pt x="0" y="1238760"/>
                    <a:pt x="0" y="798024"/>
                  </a:cubicBezTo>
                  <a:cubicBezTo>
                    <a:pt x="0" y="357287"/>
                    <a:pt x="893218" y="0"/>
                    <a:pt x="1995059" y="0"/>
                  </a:cubicBezTo>
                  <a:cubicBezTo>
                    <a:pt x="3096899" y="0"/>
                    <a:pt x="3990118" y="357287"/>
                    <a:pt x="3990118" y="79802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2" name="자유형: 도형 96">
              <a:extLst>
                <a:ext uri="{FF2B5EF4-FFF2-40B4-BE49-F238E27FC236}">
                  <a16:creationId xmlns:a16="http://schemas.microsoft.com/office/drawing/2014/main" id="{A54299AA-EE18-4D4A-A9DE-A934FE831104}"/>
                </a:ext>
              </a:extLst>
            </p:cNvPr>
            <p:cNvSpPr/>
            <p:nvPr/>
          </p:nvSpPr>
          <p:spPr>
            <a:xfrm>
              <a:off x="3483854" y="1430105"/>
              <a:ext cx="3724103" cy="1596047"/>
            </a:xfrm>
            <a:custGeom>
              <a:avLst/>
              <a:gdLst>
                <a:gd name="connsiteX0" fmla="*/ 3724104 w 3724103"/>
                <a:gd name="connsiteY0" fmla="*/ 798024 h 1596047"/>
                <a:gd name="connsiteX1" fmla="*/ 1862052 w 3724103"/>
                <a:gd name="connsiteY1" fmla="*/ 1596047 h 1596047"/>
                <a:gd name="connsiteX2" fmla="*/ 0 w 3724103"/>
                <a:gd name="connsiteY2" fmla="*/ 798024 h 1596047"/>
                <a:gd name="connsiteX3" fmla="*/ 1862052 w 3724103"/>
                <a:gd name="connsiteY3" fmla="*/ 0 h 1596047"/>
                <a:gd name="connsiteX4" fmla="*/ 3724104 w 3724103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4103" h="1596047">
                  <a:moveTo>
                    <a:pt x="3724104" y="798024"/>
                  </a:moveTo>
                  <a:cubicBezTo>
                    <a:pt x="3724104" y="1238760"/>
                    <a:pt x="2890435" y="1596047"/>
                    <a:pt x="1862052" y="1596047"/>
                  </a:cubicBezTo>
                  <a:cubicBezTo>
                    <a:pt x="833669" y="1596047"/>
                    <a:pt x="0" y="1238760"/>
                    <a:pt x="0" y="798024"/>
                  </a:cubicBezTo>
                  <a:cubicBezTo>
                    <a:pt x="0" y="357287"/>
                    <a:pt x="833669" y="0"/>
                    <a:pt x="1862052" y="0"/>
                  </a:cubicBezTo>
                  <a:cubicBezTo>
                    <a:pt x="2890435" y="0"/>
                    <a:pt x="3724104" y="357287"/>
                    <a:pt x="3724104" y="798024"/>
                  </a:cubicBezTo>
                  <a:close/>
                </a:path>
              </a:pathLst>
            </a:custGeom>
            <a:solidFill>
              <a:srgbClr val="D4E1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13" name="그래픽 4">
              <a:extLst>
                <a:ext uri="{FF2B5EF4-FFF2-40B4-BE49-F238E27FC236}">
                  <a16:creationId xmlns:a16="http://schemas.microsoft.com/office/drawing/2014/main" id="{98C20157-23AA-4C64-A7C3-F09641D03662}"/>
                </a:ext>
              </a:extLst>
            </p:cNvPr>
            <p:cNvGrpSpPr/>
            <p:nvPr/>
          </p:nvGrpSpPr>
          <p:grpSpPr>
            <a:xfrm>
              <a:off x="3129181" y="1341437"/>
              <a:ext cx="4433459" cy="4876800"/>
              <a:chOff x="3129181" y="1341437"/>
              <a:chExt cx="4433459" cy="4876800"/>
            </a:xfrm>
            <a:solidFill>
              <a:srgbClr val="428DFF"/>
            </a:solidFill>
          </p:grpSpPr>
          <p:sp>
            <p:nvSpPr>
              <p:cNvPr id="114" name="자유형: 도형 98">
                <a:extLst>
                  <a:ext uri="{FF2B5EF4-FFF2-40B4-BE49-F238E27FC236}">
                    <a16:creationId xmlns:a16="http://schemas.microsoft.com/office/drawing/2014/main" id="{942E439D-93AD-4734-B148-B8BF7A6E98D7}"/>
                  </a:ext>
                </a:extLst>
              </p:cNvPr>
              <p:cNvSpPr/>
              <p:nvPr/>
            </p:nvSpPr>
            <p:spPr>
              <a:xfrm>
                <a:off x="3129181" y="1341437"/>
                <a:ext cx="4433459" cy="4876800"/>
              </a:xfrm>
              <a:custGeom>
                <a:avLst/>
                <a:gdLst>
                  <a:gd name="connsiteX0" fmla="*/ 2216725 w 4433459"/>
                  <a:gd name="connsiteY0" fmla="*/ 4876800 h 4876800"/>
                  <a:gd name="connsiteX1" fmla="*/ 10392 w 4433459"/>
                  <a:gd name="connsiteY1" fmla="*/ 4118782 h 4876800"/>
                  <a:gd name="connsiteX2" fmla="*/ 0 w 4433459"/>
                  <a:gd name="connsiteY2" fmla="*/ 4078776 h 4876800"/>
                  <a:gd name="connsiteX3" fmla="*/ 0 w 4433459"/>
                  <a:gd name="connsiteY3" fmla="*/ 798024 h 4876800"/>
                  <a:gd name="connsiteX4" fmla="*/ 11087 w 4433459"/>
                  <a:gd name="connsiteY4" fmla="*/ 755075 h 4876800"/>
                  <a:gd name="connsiteX5" fmla="*/ 2216725 w 4433459"/>
                  <a:gd name="connsiteY5" fmla="*/ 0 h 4876800"/>
                  <a:gd name="connsiteX6" fmla="*/ 4422372 w 4433459"/>
                  <a:gd name="connsiteY6" fmla="*/ 755075 h 4876800"/>
                  <a:gd name="connsiteX7" fmla="*/ 4433459 w 4433459"/>
                  <a:gd name="connsiteY7" fmla="*/ 798024 h 4876800"/>
                  <a:gd name="connsiteX8" fmla="*/ 4433459 w 4433459"/>
                  <a:gd name="connsiteY8" fmla="*/ 4078776 h 4876800"/>
                  <a:gd name="connsiteX9" fmla="*/ 4422372 w 4433459"/>
                  <a:gd name="connsiteY9" fmla="*/ 4121725 h 4876800"/>
                  <a:gd name="connsiteX10" fmla="*/ 2216725 w 4433459"/>
                  <a:gd name="connsiteY10" fmla="*/ 4876800 h 4876800"/>
                  <a:gd name="connsiteX11" fmla="*/ 177337 w 4433459"/>
                  <a:gd name="connsiteY11" fmla="*/ 4052802 h 4876800"/>
                  <a:gd name="connsiteX12" fmla="*/ 180194 w 4433459"/>
                  <a:gd name="connsiteY12" fmla="*/ 4064403 h 4876800"/>
                  <a:gd name="connsiteX13" fmla="*/ 2216725 w 4433459"/>
                  <a:gd name="connsiteY13" fmla="*/ 4699464 h 4876800"/>
                  <a:gd name="connsiteX14" fmla="*/ 4253256 w 4433459"/>
                  <a:gd name="connsiteY14" fmla="*/ 4064403 h 4876800"/>
                  <a:gd name="connsiteX15" fmla="*/ 4256114 w 4433459"/>
                  <a:gd name="connsiteY15" fmla="*/ 4052450 h 4876800"/>
                  <a:gd name="connsiteX16" fmla="*/ 4256114 w 4433459"/>
                  <a:gd name="connsiteY16" fmla="*/ 823998 h 4876800"/>
                  <a:gd name="connsiteX17" fmla="*/ 4253256 w 4433459"/>
                  <a:gd name="connsiteY17" fmla="*/ 812311 h 4876800"/>
                  <a:gd name="connsiteX18" fmla="*/ 2216725 w 4433459"/>
                  <a:gd name="connsiteY18" fmla="*/ 177336 h 4876800"/>
                  <a:gd name="connsiteX19" fmla="*/ 180194 w 4433459"/>
                  <a:gd name="connsiteY19" fmla="*/ 812311 h 4876800"/>
                  <a:gd name="connsiteX20" fmla="*/ 177337 w 4433459"/>
                  <a:gd name="connsiteY20" fmla="*/ 824351 h 4876800"/>
                  <a:gd name="connsiteX21" fmla="*/ 177337 w 4433459"/>
                  <a:gd name="connsiteY21" fmla="*/ 4052802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59" h="4876800">
                    <a:moveTo>
                      <a:pt x="2216725" y="4876800"/>
                    </a:moveTo>
                    <a:cubicBezTo>
                      <a:pt x="1051989" y="4876800"/>
                      <a:pt x="115081" y="4552779"/>
                      <a:pt x="10392" y="4118782"/>
                    </a:cubicBezTo>
                    <a:cubicBezTo>
                      <a:pt x="3620" y="4106532"/>
                      <a:pt x="38" y="4092769"/>
                      <a:pt x="0" y="4078776"/>
                    </a:cubicBezTo>
                    <a:lnTo>
                      <a:pt x="0" y="798024"/>
                    </a:lnTo>
                    <a:cubicBezTo>
                      <a:pt x="-38" y="782993"/>
                      <a:pt x="3772" y="768210"/>
                      <a:pt x="11087" y="755075"/>
                    </a:cubicBezTo>
                    <a:cubicBezTo>
                      <a:pt x="119149" y="322640"/>
                      <a:pt x="1054504" y="0"/>
                      <a:pt x="2216725" y="0"/>
                    </a:cubicBezTo>
                    <a:cubicBezTo>
                      <a:pt x="3378947" y="0"/>
                      <a:pt x="4314302" y="322640"/>
                      <a:pt x="4422372" y="755075"/>
                    </a:cubicBezTo>
                    <a:cubicBezTo>
                      <a:pt x="4429678" y="768210"/>
                      <a:pt x="4433497" y="782993"/>
                      <a:pt x="4433459" y="798024"/>
                    </a:cubicBezTo>
                    <a:lnTo>
                      <a:pt x="4433459" y="4078776"/>
                    </a:lnTo>
                    <a:cubicBezTo>
                      <a:pt x="4433497" y="4093807"/>
                      <a:pt x="4429688" y="4108590"/>
                      <a:pt x="4422372" y="4121725"/>
                    </a:cubicBezTo>
                    <a:cubicBezTo>
                      <a:pt x="4314216" y="4554160"/>
                      <a:pt x="3378861" y="4876800"/>
                      <a:pt x="2216725" y="4876800"/>
                    </a:cubicBezTo>
                    <a:close/>
                    <a:moveTo>
                      <a:pt x="177337" y="4052802"/>
                    </a:moveTo>
                    <a:cubicBezTo>
                      <a:pt x="178565" y="4056593"/>
                      <a:pt x="179518" y="4060479"/>
                      <a:pt x="180194" y="4064403"/>
                    </a:cubicBezTo>
                    <a:cubicBezTo>
                      <a:pt x="230420" y="4371108"/>
                      <a:pt x="1060828" y="4699464"/>
                      <a:pt x="2216725" y="4699464"/>
                    </a:cubicBezTo>
                    <a:cubicBezTo>
                      <a:pt x="3372622" y="4699464"/>
                      <a:pt x="4203031" y="4371108"/>
                      <a:pt x="4253256" y="4064403"/>
                    </a:cubicBezTo>
                    <a:cubicBezTo>
                      <a:pt x="4253942" y="4060365"/>
                      <a:pt x="4254894" y="4056364"/>
                      <a:pt x="4256114" y="4052450"/>
                    </a:cubicBezTo>
                    <a:lnTo>
                      <a:pt x="4256114" y="823998"/>
                    </a:lnTo>
                    <a:cubicBezTo>
                      <a:pt x="4254885" y="820169"/>
                      <a:pt x="4253932" y="816264"/>
                      <a:pt x="4253256" y="812311"/>
                    </a:cubicBezTo>
                    <a:cubicBezTo>
                      <a:pt x="4203116" y="505692"/>
                      <a:pt x="3372803" y="177336"/>
                      <a:pt x="2216725" y="177336"/>
                    </a:cubicBezTo>
                    <a:cubicBezTo>
                      <a:pt x="1060647" y="177336"/>
                      <a:pt x="230334" y="505692"/>
                      <a:pt x="180194" y="812311"/>
                    </a:cubicBezTo>
                    <a:cubicBezTo>
                      <a:pt x="179518" y="816388"/>
                      <a:pt x="178565" y="820407"/>
                      <a:pt x="177337" y="824351"/>
                    </a:cubicBezTo>
                    <a:lnTo>
                      <a:pt x="177337" y="4052802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5" name="자유형: 도형 99">
                <a:extLst>
                  <a:ext uri="{FF2B5EF4-FFF2-40B4-BE49-F238E27FC236}">
                    <a16:creationId xmlns:a16="http://schemas.microsoft.com/office/drawing/2014/main" id="{3CD32E01-E047-4BE0-AEC3-690732E8548A}"/>
                  </a:ext>
                </a:extLst>
              </p:cNvPr>
              <p:cNvSpPr/>
              <p:nvPr/>
            </p:nvSpPr>
            <p:spPr>
              <a:xfrm>
                <a:off x="3129181" y="3292157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2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2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0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2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2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6" name="자유형: 도형 100">
                <a:extLst>
                  <a:ext uri="{FF2B5EF4-FFF2-40B4-BE49-F238E27FC236}">
                    <a16:creationId xmlns:a16="http://schemas.microsoft.com/office/drawing/2014/main" id="{883FE7FE-0974-4250-A460-9E3C66CF644F}"/>
                  </a:ext>
                </a:extLst>
              </p:cNvPr>
              <p:cNvSpPr/>
              <p:nvPr/>
            </p:nvSpPr>
            <p:spPr>
              <a:xfrm>
                <a:off x="3129181" y="2228128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1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1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1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1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1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B1EE0A25-C550-4ABA-B35D-70539AD9B102}"/>
              </a:ext>
            </a:extLst>
          </p:cNvPr>
          <p:cNvSpPr/>
          <p:nvPr/>
        </p:nvSpPr>
        <p:spPr>
          <a:xfrm>
            <a:off x="1438360" y="1895320"/>
            <a:ext cx="1251213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육상</a:t>
            </a:r>
            <a:r>
              <a:rPr lang="en-US" altLang="ko-KR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 실황</a:t>
            </a:r>
          </a:p>
        </p:txBody>
      </p:sp>
      <p:grpSp>
        <p:nvGrpSpPr>
          <p:cNvPr id="120" name="그래픽 4">
            <a:extLst>
              <a:ext uri="{FF2B5EF4-FFF2-40B4-BE49-F238E27FC236}">
                <a16:creationId xmlns:a16="http://schemas.microsoft.com/office/drawing/2014/main" id="{CA77F9A7-702E-493F-8CA2-DDCE5C0AE108}"/>
              </a:ext>
            </a:extLst>
          </p:cNvPr>
          <p:cNvGrpSpPr/>
          <p:nvPr/>
        </p:nvGrpSpPr>
        <p:grpSpPr>
          <a:xfrm>
            <a:off x="932041" y="2182672"/>
            <a:ext cx="477661" cy="284631"/>
            <a:chOff x="3129181" y="1341437"/>
            <a:chExt cx="4433459" cy="4876800"/>
          </a:xfrm>
        </p:grpSpPr>
        <p:sp>
          <p:nvSpPr>
            <p:cNvPr id="121" name="자유형: 도형 105">
              <a:extLst>
                <a:ext uri="{FF2B5EF4-FFF2-40B4-BE49-F238E27FC236}">
                  <a16:creationId xmlns:a16="http://schemas.microsoft.com/office/drawing/2014/main" id="{442D3EB5-0BC7-49F3-83EF-8F53D604523B}"/>
                </a:ext>
              </a:extLst>
            </p:cNvPr>
            <p:cNvSpPr/>
            <p:nvPr/>
          </p:nvSpPr>
          <p:spPr>
            <a:xfrm>
              <a:off x="3217849" y="1430105"/>
              <a:ext cx="2128056" cy="4699463"/>
            </a:xfrm>
            <a:custGeom>
              <a:avLst/>
              <a:gdLst>
                <a:gd name="connsiteX0" fmla="*/ 3962 w 2128056"/>
                <a:gd name="connsiteY0" fmla="*/ 709355 h 4699463"/>
                <a:gd name="connsiteX1" fmla="*/ 2128057 w 2128056"/>
                <a:gd name="connsiteY1" fmla="*/ 0 h 4699463"/>
                <a:gd name="connsiteX2" fmla="*/ 2128057 w 2128056"/>
                <a:gd name="connsiteY2" fmla="*/ 4699464 h 4699463"/>
                <a:gd name="connsiteX3" fmla="*/ 3962 w 2128056"/>
                <a:gd name="connsiteY3" fmla="*/ 3990108 h 4699463"/>
                <a:gd name="connsiteX4" fmla="*/ 0 w 2128056"/>
                <a:gd name="connsiteY4" fmla="*/ 3990108 h 4699463"/>
                <a:gd name="connsiteX5" fmla="*/ 0 w 2128056"/>
                <a:gd name="connsiteY5" fmla="*/ 709355 h 4699463"/>
                <a:gd name="connsiteX6" fmla="*/ 3962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3962" y="709355"/>
                  </a:moveTo>
                  <a:cubicBezTo>
                    <a:pt x="68799" y="313744"/>
                    <a:pt x="994810" y="0"/>
                    <a:pt x="2128057" y="0"/>
                  </a:cubicBezTo>
                  <a:lnTo>
                    <a:pt x="2128057" y="4699464"/>
                  </a:lnTo>
                  <a:cubicBezTo>
                    <a:pt x="994820" y="4699464"/>
                    <a:pt x="68809" y="4385701"/>
                    <a:pt x="3962" y="3990108"/>
                  </a:cubicBezTo>
                  <a:lnTo>
                    <a:pt x="0" y="3990108"/>
                  </a:lnTo>
                  <a:lnTo>
                    <a:pt x="0" y="709355"/>
                  </a:lnTo>
                  <a:lnTo>
                    <a:pt x="3962" y="7093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2" name="자유형: 도형 106">
              <a:extLst>
                <a:ext uri="{FF2B5EF4-FFF2-40B4-BE49-F238E27FC236}">
                  <a16:creationId xmlns:a16="http://schemas.microsoft.com/office/drawing/2014/main" id="{FFBF153F-8411-4712-9B40-D736B07D941E}"/>
                </a:ext>
              </a:extLst>
            </p:cNvPr>
            <p:cNvSpPr/>
            <p:nvPr/>
          </p:nvSpPr>
          <p:spPr>
            <a:xfrm>
              <a:off x="5345906" y="1430105"/>
              <a:ext cx="2128056" cy="4699463"/>
            </a:xfrm>
            <a:custGeom>
              <a:avLst/>
              <a:gdLst>
                <a:gd name="connsiteX0" fmla="*/ 2124094 w 2128056"/>
                <a:gd name="connsiteY0" fmla="*/ 709355 h 4699463"/>
                <a:gd name="connsiteX1" fmla="*/ 0 w 2128056"/>
                <a:gd name="connsiteY1" fmla="*/ 0 h 4699463"/>
                <a:gd name="connsiteX2" fmla="*/ 0 w 2128056"/>
                <a:gd name="connsiteY2" fmla="*/ 4699464 h 4699463"/>
                <a:gd name="connsiteX3" fmla="*/ 2124094 w 2128056"/>
                <a:gd name="connsiteY3" fmla="*/ 3990108 h 4699463"/>
                <a:gd name="connsiteX4" fmla="*/ 2128057 w 2128056"/>
                <a:gd name="connsiteY4" fmla="*/ 3990108 h 4699463"/>
                <a:gd name="connsiteX5" fmla="*/ 2128057 w 2128056"/>
                <a:gd name="connsiteY5" fmla="*/ 709355 h 4699463"/>
                <a:gd name="connsiteX6" fmla="*/ 2124094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2124094" y="709355"/>
                  </a:moveTo>
                  <a:cubicBezTo>
                    <a:pt x="2059258" y="313744"/>
                    <a:pt x="1133247" y="0"/>
                    <a:pt x="0" y="0"/>
                  </a:cubicBezTo>
                  <a:lnTo>
                    <a:pt x="0" y="4699464"/>
                  </a:lnTo>
                  <a:cubicBezTo>
                    <a:pt x="1133237" y="4699464"/>
                    <a:pt x="2059248" y="4385701"/>
                    <a:pt x="2124094" y="3990108"/>
                  </a:cubicBezTo>
                  <a:lnTo>
                    <a:pt x="2128057" y="3990108"/>
                  </a:lnTo>
                  <a:lnTo>
                    <a:pt x="2128057" y="709355"/>
                  </a:lnTo>
                  <a:lnTo>
                    <a:pt x="2124094" y="709355"/>
                  </a:lnTo>
                  <a:close/>
                </a:path>
              </a:pathLst>
            </a:custGeom>
            <a:solidFill>
              <a:srgbClr val="7FAC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23" name="그래픽 4">
              <a:extLst>
                <a:ext uri="{FF2B5EF4-FFF2-40B4-BE49-F238E27FC236}">
                  <a16:creationId xmlns:a16="http://schemas.microsoft.com/office/drawing/2014/main" id="{F42D3A0F-02E5-4868-8812-09735D9B78E7}"/>
                </a:ext>
              </a:extLst>
            </p:cNvPr>
            <p:cNvGrpSpPr/>
            <p:nvPr/>
          </p:nvGrpSpPr>
          <p:grpSpPr>
            <a:xfrm>
              <a:off x="3483854" y="1430105"/>
              <a:ext cx="4078785" cy="4699463"/>
              <a:chOff x="3483854" y="1430105"/>
              <a:chExt cx="4078785" cy="4699463"/>
            </a:xfrm>
            <a:solidFill>
              <a:srgbClr val="A4C2F7"/>
            </a:solidFill>
          </p:grpSpPr>
          <p:sp>
            <p:nvSpPr>
              <p:cNvPr id="130" name="자유형: 도형 114">
                <a:extLst>
                  <a:ext uri="{FF2B5EF4-FFF2-40B4-BE49-F238E27FC236}">
                    <a16:creationId xmlns:a16="http://schemas.microsoft.com/office/drawing/2014/main" id="{50819215-64B4-40A7-B246-323C9ADFCFA5}"/>
                  </a:ext>
                </a:extLst>
              </p:cNvPr>
              <p:cNvSpPr/>
              <p:nvPr/>
            </p:nvSpPr>
            <p:spPr>
              <a:xfrm>
                <a:off x="3483854" y="1430105"/>
                <a:ext cx="3724103" cy="4699463"/>
              </a:xfrm>
              <a:custGeom>
                <a:avLst/>
                <a:gdLst>
                  <a:gd name="connsiteX0" fmla="*/ 3720141 w 3724103"/>
                  <a:gd name="connsiteY0" fmla="*/ 709355 h 4699463"/>
                  <a:gd name="connsiteX1" fmla="*/ 3720141 w 3724103"/>
                  <a:gd name="connsiteY1" fmla="*/ 709355 h 4699463"/>
                  <a:gd name="connsiteX2" fmla="*/ 2128057 w 3724103"/>
                  <a:gd name="connsiteY2" fmla="*/ 0 h 4699463"/>
                  <a:gd name="connsiteX3" fmla="*/ 3962 w 3724103"/>
                  <a:gd name="connsiteY3" fmla="*/ 709355 h 4699463"/>
                  <a:gd name="connsiteX4" fmla="*/ 0 w 3724103"/>
                  <a:gd name="connsiteY4" fmla="*/ 709355 h 4699463"/>
                  <a:gd name="connsiteX5" fmla="*/ 0 w 3724103"/>
                  <a:gd name="connsiteY5" fmla="*/ 3990108 h 4699463"/>
                  <a:gd name="connsiteX6" fmla="*/ 3962 w 3724103"/>
                  <a:gd name="connsiteY6" fmla="*/ 3990108 h 4699463"/>
                  <a:gd name="connsiteX7" fmla="*/ 2128057 w 3724103"/>
                  <a:gd name="connsiteY7" fmla="*/ 4699464 h 4699463"/>
                  <a:gd name="connsiteX8" fmla="*/ 3720141 w 3724103"/>
                  <a:gd name="connsiteY8" fmla="*/ 3990108 h 4699463"/>
                  <a:gd name="connsiteX9" fmla="*/ 3724104 w 3724103"/>
                  <a:gd name="connsiteY9" fmla="*/ 3990108 h 4699463"/>
                  <a:gd name="connsiteX10" fmla="*/ 3724104 w 3724103"/>
                  <a:gd name="connsiteY10" fmla="*/ 709355 h 4699463"/>
                  <a:gd name="connsiteX11" fmla="*/ 3720141 w 3724103"/>
                  <a:gd name="connsiteY11" fmla="*/ 709355 h 4699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24103" h="4699463">
                    <a:moveTo>
                      <a:pt x="3720141" y="709355"/>
                    </a:moveTo>
                    <a:lnTo>
                      <a:pt x="3720141" y="709355"/>
                    </a:lnTo>
                    <a:cubicBezTo>
                      <a:pt x="3655305" y="313744"/>
                      <a:pt x="3261303" y="0"/>
                      <a:pt x="2128057" y="0"/>
                    </a:cubicBezTo>
                    <a:cubicBezTo>
                      <a:pt x="994810" y="0"/>
                      <a:pt x="68799" y="313744"/>
                      <a:pt x="3962" y="709355"/>
                    </a:cubicBezTo>
                    <a:lnTo>
                      <a:pt x="0" y="709355"/>
                    </a:lnTo>
                    <a:lnTo>
                      <a:pt x="0" y="3990108"/>
                    </a:lnTo>
                    <a:lnTo>
                      <a:pt x="3962" y="3990108"/>
                    </a:lnTo>
                    <a:cubicBezTo>
                      <a:pt x="68809" y="4385701"/>
                      <a:pt x="994820" y="4699464"/>
                      <a:pt x="2128057" y="4699464"/>
                    </a:cubicBezTo>
                    <a:cubicBezTo>
                      <a:pt x="3261294" y="4699464"/>
                      <a:pt x="3655295" y="4385701"/>
                      <a:pt x="3720141" y="3990108"/>
                    </a:cubicBezTo>
                    <a:lnTo>
                      <a:pt x="3724104" y="3990108"/>
                    </a:lnTo>
                    <a:lnTo>
                      <a:pt x="3724104" y="709355"/>
                    </a:lnTo>
                    <a:lnTo>
                      <a:pt x="3720141" y="709355"/>
                    </a:ln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1" name="자유형: 도형 115">
                <a:extLst>
                  <a:ext uri="{FF2B5EF4-FFF2-40B4-BE49-F238E27FC236}">
                    <a16:creationId xmlns:a16="http://schemas.microsoft.com/office/drawing/2014/main" id="{6C913DC3-EB68-4DC5-9CB1-3FB6F4AEA122}"/>
                  </a:ext>
                </a:extLst>
              </p:cNvPr>
              <p:cNvSpPr/>
              <p:nvPr/>
            </p:nvSpPr>
            <p:spPr>
              <a:xfrm>
                <a:off x="3572522" y="1430105"/>
                <a:ext cx="3990117" cy="1596047"/>
              </a:xfrm>
              <a:custGeom>
                <a:avLst/>
                <a:gdLst>
                  <a:gd name="connsiteX0" fmla="*/ 3990118 w 3990117"/>
                  <a:gd name="connsiteY0" fmla="*/ 798024 h 1596047"/>
                  <a:gd name="connsiteX1" fmla="*/ 1995059 w 3990117"/>
                  <a:gd name="connsiteY1" fmla="*/ 1596047 h 1596047"/>
                  <a:gd name="connsiteX2" fmla="*/ 0 w 3990117"/>
                  <a:gd name="connsiteY2" fmla="*/ 798024 h 1596047"/>
                  <a:gd name="connsiteX3" fmla="*/ 1995059 w 3990117"/>
                  <a:gd name="connsiteY3" fmla="*/ 0 h 1596047"/>
                  <a:gd name="connsiteX4" fmla="*/ 3990118 w 3990117"/>
                  <a:gd name="connsiteY4" fmla="*/ 798024 h 159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90117" h="1596047">
                    <a:moveTo>
                      <a:pt x="3990118" y="798024"/>
                    </a:moveTo>
                    <a:cubicBezTo>
                      <a:pt x="3990118" y="1238760"/>
                      <a:pt x="3096900" y="1596047"/>
                      <a:pt x="1995059" y="1596047"/>
                    </a:cubicBezTo>
                    <a:cubicBezTo>
                      <a:pt x="893218" y="1596047"/>
                      <a:pt x="0" y="1238760"/>
                      <a:pt x="0" y="798024"/>
                    </a:cubicBezTo>
                    <a:cubicBezTo>
                      <a:pt x="0" y="357287"/>
                      <a:pt x="893218" y="0"/>
                      <a:pt x="1995059" y="0"/>
                    </a:cubicBezTo>
                    <a:cubicBezTo>
                      <a:pt x="3096900" y="0"/>
                      <a:pt x="3990118" y="357287"/>
                      <a:pt x="3990118" y="798024"/>
                    </a:cubicBez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24" name="자유형: 도형 108">
              <a:extLst>
                <a:ext uri="{FF2B5EF4-FFF2-40B4-BE49-F238E27FC236}">
                  <a16:creationId xmlns:a16="http://schemas.microsoft.com/office/drawing/2014/main" id="{DABCBB71-DD53-4EE1-B96E-0FFC7132A0D4}"/>
                </a:ext>
              </a:extLst>
            </p:cNvPr>
            <p:cNvSpPr/>
            <p:nvPr/>
          </p:nvSpPr>
          <p:spPr>
            <a:xfrm>
              <a:off x="3217840" y="1430105"/>
              <a:ext cx="3990117" cy="1596047"/>
            </a:xfrm>
            <a:custGeom>
              <a:avLst/>
              <a:gdLst>
                <a:gd name="connsiteX0" fmla="*/ 3990118 w 3990117"/>
                <a:gd name="connsiteY0" fmla="*/ 798024 h 1596047"/>
                <a:gd name="connsiteX1" fmla="*/ 1995059 w 3990117"/>
                <a:gd name="connsiteY1" fmla="*/ 1596047 h 1596047"/>
                <a:gd name="connsiteX2" fmla="*/ 0 w 3990117"/>
                <a:gd name="connsiteY2" fmla="*/ 798024 h 1596047"/>
                <a:gd name="connsiteX3" fmla="*/ 1995059 w 3990117"/>
                <a:gd name="connsiteY3" fmla="*/ 0 h 1596047"/>
                <a:gd name="connsiteX4" fmla="*/ 3990118 w 3990117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90117" h="1596047">
                  <a:moveTo>
                    <a:pt x="3990118" y="798024"/>
                  </a:moveTo>
                  <a:cubicBezTo>
                    <a:pt x="3990118" y="1238760"/>
                    <a:pt x="3096900" y="1596047"/>
                    <a:pt x="1995059" y="1596047"/>
                  </a:cubicBezTo>
                  <a:cubicBezTo>
                    <a:pt x="893218" y="1596047"/>
                    <a:pt x="0" y="1238760"/>
                    <a:pt x="0" y="798024"/>
                  </a:cubicBezTo>
                  <a:cubicBezTo>
                    <a:pt x="0" y="357287"/>
                    <a:pt x="893218" y="0"/>
                    <a:pt x="1995059" y="0"/>
                  </a:cubicBezTo>
                  <a:cubicBezTo>
                    <a:pt x="3096899" y="0"/>
                    <a:pt x="3990118" y="357287"/>
                    <a:pt x="3990118" y="79802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5" name="자유형: 도형 109">
              <a:extLst>
                <a:ext uri="{FF2B5EF4-FFF2-40B4-BE49-F238E27FC236}">
                  <a16:creationId xmlns:a16="http://schemas.microsoft.com/office/drawing/2014/main" id="{4AF2CBE0-4B29-466C-8E56-1D2DE4DDDD72}"/>
                </a:ext>
              </a:extLst>
            </p:cNvPr>
            <p:cNvSpPr/>
            <p:nvPr/>
          </p:nvSpPr>
          <p:spPr>
            <a:xfrm>
              <a:off x="3483854" y="1430105"/>
              <a:ext cx="3724103" cy="1596047"/>
            </a:xfrm>
            <a:custGeom>
              <a:avLst/>
              <a:gdLst>
                <a:gd name="connsiteX0" fmla="*/ 3724104 w 3724103"/>
                <a:gd name="connsiteY0" fmla="*/ 798024 h 1596047"/>
                <a:gd name="connsiteX1" fmla="*/ 1862052 w 3724103"/>
                <a:gd name="connsiteY1" fmla="*/ 1596047 h 1596047"/>
                <a:gd name="connsiteX2" fmla="*/ 0 w 3724103"/>
                <a:gd name="connsiteY2" fmla="*/ 798024 h 1596047"/>
                <a:gd name="connsiteX3" fmla="*/ 1862052 w 3724103"/>
                <a:gd name="connsiteY3" fmla="*/ 0 h 1596047"/>
                <a:gd name="connsiteX4" fmla="*/ 3724104 w 3724103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4103" h="1596047">
                  <a:moveTo>
                    <a:pt x="3724104" y="798024"/>
                  </a:moveTo>
                  <a:cubicBezTo>
                    <a:pt x="3724104" y="1238760"/>
                    <a:pt x="2890435" y="1596047"/>
                    <a:pt x="1862052" y="1596047"/>
                  </a:cubicBezTo>
                  <a:cubicBezTo>
                    <a:pt x="833669" y="1596047"/>
                    <a:pt x="0" y="1238760"/>
                    <a:pt x="0" y="798024"/>
                  </a:cubicBezTo>
                  <a:cubicBezTo>
                    <a:pt x="0" y="357287"/>
                    <a:pt x="833669" y="0"/>
                    <a:pt x="1862052" y="0"/>
                  </a:cubicBezTo>
                  <a:cubicBezTo>
                    <a:pt x="2890435" y="0"/>
                    <a:pt x="3724104" y="357287"/>
                    <a:pt x="3724104" y="798024"/>
                  </a:cubicBezTo>
                  <a:close/>
                </a:path>
              </a:pathLst>
            </a:custGeom>
            <a:solidFill>
              <a:srgbClr val="D4E1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26" name="그래픽 4">
              <a:extLst>
                <a:ext uri="{FF2B5EF4-FFF2-40B4-BE49-F238E27FC236}">
                  <a16:creationId xmlns:a16="http://schemas.microsoft.com/office/drawing/2014/main" id="{EB4C29BA-BB23-4E8C-B922-5D930574199B}"/>
                </a:ext>
              </a:extLst>
            </p:cNvPr>
            <p:cNvGrpSpPr/>
            <p:nvPr/>
          </p:nvGrpSpPr>
          <p:grpSpPr>
            <a:xfrm>
              <a:off x="3129181" y="1341437"/>
              <a:ext cx="4433459" cy="4876800"/>
              <a:chOff x="3129181" y="1341437"/>
              <a:chExt cx="4433459" cy="4876800"/>
            </a:xfrm>
            <a:solidFill>
              <a:srgbClr val="428DFF"/>
            </a:solidFill>
          </p:grpSpPr>
          <p:sp>
            <p:nvSpPr>
              <p:cNvPr id="127" name="자유형: 도형 111">
                <a:extLst>
                  <a:ext uri="{FF2B5EF4-FFF2-40B4-BE49-F238E27FC236}">
                    <a16:creationId xmlns:a16="http://schemas.microsoft.com/office/drawing/2014/main" id="{4165E102-560C-4EBB-9E20-CEDC4FAA93F5}"/>
                  </a:ext>
                </a:extLst>
              </p:cNvPr>
              <p:cNvSpPr/>
              <p:nvPr/>
            </p:nvSpPr>
            <p:spPr>
              <a:xfrm>
                <a:off x="3129181" y="1341437"/>
                <a:ext cx="4433459" cy="4876800"/>
              </a:xfrm>
              <a:custGeom>
                <a:avLst/>
                <a:gdLst>
                  <a:gd name="connsiteX0" fmla="*/ 2216725 w 4433459"/>
                  <a:gd name="connsiteY0" fmla="*/ 4876800 h 4876800"/>
                  <a:gd name="connsiteX1" fmla="*/ 10392 w 4433459"/>
                  <a:gd name="connsiteY1" fmla="*/ 4118782 h 4876800"/>
                  <a:gd name="connsiteX2" fmla="*/ 0 w 4433459"/>
                  <a:gd name="connsiteY2" fmla="*/ 4078776 h 4876800"/>
                  <a:gd name="connsiteX3" fmla="*/ 0 w 4433459"/>
                  <a:gd name="connsiteY3" fmla="*/ 798024 h 4876800"/>
                  <a:gd name="connsiteX4" fmla="*/ 11087 w 4433459"/>
                  <a:gd name="connsiteY4" fmla="*/ 755075 h 4876800"/>
                  <a:gd name="connsiteX5" fmla="*/ 2216725 w 4433459"/>
                  <a:gd name="connsiteY5" fmla="*/ 0 h 4876800"/>
                  <a:gd name="connsiteX6" fmla="*/ 4422372 w 4433459"/>
                  <a:gd name="connsiteY6" fmla="*/ 755075 h 4876800"/>
                  <a:gd name="connsiteX7" fmla="*/ 4433459 w 4433459"/>
                  <a:gd name="connsiteY7" fmla="*/ 798024 h 4876800"/>
                  <a:gd name="connsiteX8" fmla="*/ 4433459 w 4433459"/>
                  <a:gd name="connsiteY8" fmla="*/ 4078776 h 4876800"/>
                  <a:gd name="connsiteX9" fmla="*/ 4422372 w 4433459"/>
                  <a:gd name="connsiteY9" fmla="*/ 4121725 h 4876800"/>
                  <a:gd name="connsiteX10" fmla="*/ 2216725 w 4433459"/>
                  <a:gd name="connsiteY10" fmla="*/ 4876800 h 4876800"/>
                  <a:gd name="connsiteX11" fmla="*/ 177337 w 4433459"/>
                  <a:gd name="connsiteY11" fmla="*/ 4052802 h 4876800"/>
                  <a:gd name="connsiteX12" fmla="*/ 180194 w 4433459"/>
                  <a:gd name="connsiteY12" fmla="*/ 4064403 h 4876800"/>
                  <a:gd name="connsiteX13" fmla="*/ 2216725 w 4433459"/>
                  <a:gd name="connsiteY13" fmla="*/ 4699464 h 4876800"/>
                  <a:gd name="connsiteX14" fmla="*/ 4253256 w 4433459"/>
                  <a:gd name="connsiteY14" fmla="*/ 4064403 h 4876800"/>
                  <a:gd name="connsiteX15" fmla="*/ 4256114 w 4433459"/>
                  <a:gd name="connsiteY15" fmla="*/ 4052450 h 4876800"/>
                  <a:gd name="connsiteX16" fmla="*/ 4256114 w 4433459"/>
                  <a:gd name="connsiteY16" fmla="*/ 823998 h 4876800"/>
                  <a:gd name="connsiteX17" fmla="*/ 4253256 w 4433459"/>
                  <a:gd name="connsiteY17" fmla="*/ 812311 h 4876800"/>
                  <a:gd name="connsiteX18" fmla="*/ 2216725 w 4433459"/>
                  <a:gd name="connsiteY18" fmla="*/ 177336 h 4876800"/>
                  <a:gd name="connsiteX19" fmla="*/ 180194 w 4433459"/>
                  <a:gd name="connsiteY19" fmla="*/ 812311 h 4876800"/>
                  <a:gd name="connsiteX20" fmla="*/ 177337 w 4433459"/>
                  <a:gd name="connsiteY20" fmla="*/ 824351 h 4876800"/>
                  <a:gd name="connsiteX21" fmla="*/ 177337 w 4433459"/>
                  <a:gd name="connsiteY21" fmla="*/ 4052802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59" h="4876800">
                    <a:moveTo>
                      <a:pt x="2216725" y="4876800"/>
                    </a:moveTo>
                    <a:cubicBezTo>
                      <a:pt x="1051989" y="4876800"/>
                      <a:pt x="115081" y="4552779"/>
                      <a:pt x="10392" y="4118782"/>
                    </a:cubicBezTo>
                    <a:cubicBezTo>
                      <a:pt x="3620" y="4106532"/>
                      <a:pt x="38" y="4092769"/>
                      <a:pt x="0" y="4078776"/>
                    </a:cubicBezTo>
                    <a:lnTo>
                      <a:pt x="0" y="798024"/>
                    </a:lnTo>
                    <a:cubicBezTo>
                      <a:pt x="-38" y="782993"/>
                      <a:pt x="3772" y="768210"/>
                      <a:pt x="11087" y="755075"/>
                    </a:cubicBezTo>
                    <a:cubicBezTo>
                      <a:pt x="119149" y="322640"/>
                      <a:pt x="1054504" y="0"/>
                      <a:pt x="2216725" y="0"/>
                    </a:cubicBezTo>
                    <a:cubicBezTo>
                      <a:pt x="3378947" y="0"/>
                      <a:pt x="4314302" y="322640"/>
                      <a:pt x="4422372" y="755075"/>
                    </a:cubicBezTo>
                    <a:cubicBezTo>
                      <a:pt x="4429678" y="768210"/>
                      <a:pt x="4433497" y="782993"/>
                      <a:pt x="4433459" y="798024"/>
                    </a:cubicBezTo>
                    <a:lnTo>
                      <a:pt x="4433459" y="4078776"/>
                    </a:lnTo>
                    <a:cubicBezTo>
                      <a:pt x="4433497" y="4093807"/>
                      <a:pt x="4429688" y="4108590"/>
                      <a:pt x="4422372" y="4121725"/>
                    </a:cubicBezTo>
                    <a:cubicBezTo>
                      <a:pt x="4314216" y="4554160"/>
                      <a:pt x="3378861" y="4876800"/>
                      <a:pt x="2216725" y="4876800"/>
                    </a:cubicBezTo>
                    <a:close/>
                    <a:moveTo>
                      <a:pt x="177337" y="4052802"/>
                    </a:moveTo>
                    <a:cubicBezTo>
                      <a:pt x="178565" y="4056593"/>
                      <a:pt x="179518" y="4060479"/>
                      <a:pt x="180194" y="4064403"/>
                    </a:cubicBezTo>
                    <a:cubicBezTo>
                      <a:pt x="230420" y="4371108"/>
                      <a:pt x="1060828" y="4699464"/>
                      <a:pt x="2216725" y="4699464"/>
                    </a:cubicBezTo>
                    <a:cubicBezTo>
                      <a:pt x="3372622" y="4699464"/>
                      <a:pt x="4203031" y="4371108"/>
                      <a:pt x="4253256" y="4064403"/>
                    </a:cubicBezTo>
                    <a:cubicBezTo>
                      <a:pt x="4253942" y="4060365"/>
                      <a:pt x="4254894" y="4056364"/>
                      <a:pt x="4256114" y="4052450"/>
                    </a:cubicBezTo>
                    <a:lnTo>
                      <a:pt x="4256114" y="823998"/>
                    </a:lnTo>
                    <a:cubicBezTo>
                      <a:pt x="4254885" y="820169"/>
                      <a:pt x="4253932" y="816264"/>
                      <a:pt x="4253256" y="812311"/>
                    </a:cubicBezTo>
                    <a:cubicBezTo>
                      <a:pt x="4203116" y="505692"/>
                      <a:pt x="3372803" y="177336"/>
                      <a:pt x="2216725" y="177336"/>
                    </a:cubicBezTo>
                    <a:cubicBezTo>
                      <a:pt x="1060647" y="177336"/>
                      <a:pt x="230334" y="505692"/>
                      <a:pt x="180194" y="812311"/>
                    </a:cubicBezTo>
                    <a:cubicBezTo>
                      <a:pt x="179518" y="816388"/>
                      <a:pt x="178565" y="820407"/>
                      <a:pt x="177337" y="824351"/>
                    </a:cubicBezTo>
                    <a:lnTo>
                      <a:pt x="177337" y="4052802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8" name="자유형: 도형 112">
                <a:extLst>
                  <a:ext uri="{FF2B5EF4-FFF2-40B4-BE49-F238E27FC236}">
                    <a16:creationId xmlns:a16="http://schemas.microsoft.com/office/drawing/2014/main" id="{9EF31D8F-1925-40BD-9FC4-5DF3B6160270}"/>
                  </a:ext>
                </a:extLst>
              </p:cNvPr>
              <p:cNvSpPr/>
              <p:nvPr/>
            </p:nvSpPr>
            <p:spPr>
              <a:xfrm>
                <a:off x="3129181" y="3292157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2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2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0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2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2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9" name="자유형: 도형 113">
                <a:extLst>
                  <a:ext uri="{FF2B5EF4-FFF2-40B4-BE49-F238E27FC236}">
                    <a16:creationId xmlns:a16="http://schemas.microsoft.com/office/drawing/2014/main" id="{2BF746A6-F689-42A2-9E2C-59A9356E89B9}"/>
                  </a:ext>
                </a:extLst>
              </p:cNvPr>
              <p:cNvSpPr/>
              <p:nvPr/>
            </p:nvSpPr>
            <p:spPr>
              <a:xfrm>
                <a:off x="3129181" y="2228128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1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1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1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1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1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D579D970-CE11-43D2-BB4C-D173FAB20935}"/>
              </a:ext>
            </a:extLst>
          </p:cNvPr>
          <p:cNvSpPr/>
          <p:nvPr/>
        </p:nvSpPr>
        <p:spPr>
          <a:xfrm>
            <a:off x="1438360" y="2205582"/>
            <a:ext cx="1251213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동네</a:t>
            </a:r>
            <a:r>
              <a:rPr lang="en-US" altLang="ko-KR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b="1" spc="-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초단기</a:t>
            </a:r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예보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A0E3341E-EBA2-4F6E-8CB0-D640FE2A416E}"/>
              </a:ext>
            </a:extLst>
          </p:cNvPr>
          <p:cNvSpPr/>
          <p:nvPr/>
        </p:nvSpPr>
        <p:spPr>
          <a:xfrm>
            <a:off x="864129" y="2884350"/>
            <a:ext cx="1895358" cy="1358472"/>
          </a:xfrm>
          <a:prstGeom prst="rect">
            <a:avLst/>
          </a:prstGeom>
          <a:noFill/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FD08BF7-8E94-4131-BFF5-F82052D81E06}"/>
              </a:ext>
            </a:extLst>
          </p:cNvPr>
          <p:cNvSpPr/>
          <p:nvPr/>
        </p:nvSpPr>
        <p:spPr>
          <a:xfrm>
            <a:off x="859302" y="2636105"/>
            <a:ext cx="1900186" cy="356217"/>
          </a:xfrm>
          <a:prstGeom prst="rect">
            <a:avLst/>
          </a:prstGeom>
          <a:solidFill>
            <a:srgbClr val="0184F1"/>
          </a:solidFill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KWEATHER - </a:t>
            </a:r>
            <a:r>
              <a:rPr lang="ko-KR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대기환경</a:t>
            </a:r>
          </a:p>
        </p:txBody>
      </p:sp>
      <p:pic>
        <p:nvPicPr>
          <p:cNvPr id="135" name="그림 134" descr="텍스트이(가) 표시된 사진&#10;&#10;자동 생성된 설명">
            <a:extLst>
              <a:ext uri="{FF2B5EF4-FFF2-40B4-BE49-F238E27FC236}">
                <a16:creationId xmlns:a16="http://schemas.microsoft.com/office/drawing/2014/main" id="{D256D769-1CCF-43D7-91BB-DEE1F96900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699" y="3112798"/>
            <a:ext cx="503199" cy="754799"/>
          </a:xfrm>
          <a:prstGeom prst="rect">
            <a:avLst/>
          </a:prstGeom>
        </p:spPr>
      </p:pic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4624B52A-5655-4526-B402-35C878E59F10}"/>
              </a:ext>
            </a:extLst>
          </p:cNvPr>
          <p:cNvSpPr/>
          <p:nvPr/>
        </p:nvSpPr>
        <p:spPr>
          <a:xfrm>
            <a:off x="1024240" y="3867597"/>
            <a:ext cx="441607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실외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A286897-0CD3-4144-ADFE-6F59850F56C8}"/>
              </a:ext>
            </a:extLst>
          </p:cNvPr>
          <p:cNvSpPr/>
          <p:nvPr/>
        </p:nvSpPr>
        <p:spPr>
          <a:xfrm>
            <a:off x="1613469" y="3867597"/>
            <a:ext cx="441607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실내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BF117CDE-5DE8-4662-9A81-29FCBC9022A3}"/>
              </a:ext>
            </a:extLst>
          </p:cNvPr>
          <p:cNvSpPr/>
          <p:nvPr/>
        </p:nvSpPr>
        <p:spPr>
          <a:xfrm>
            <a:off x="2233495" y="3867597"/>
            <a:ext cx="441607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환기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2FE9229-D187-4866-84A7-CD114FAF3429}"/>
              </a:ext>
            </a:extLst>
          </p:cNvPr>
          <p:cNvSpPr/>
          <p:nvPr/>
        </p:nvSpPr>
        <p:spPr>
          <a:xfrm>
            <a:off x="864129" y="4564153"/>
            <a:ext cx="1895358" cy="1358472"/>
          </a:xfrm>
          <a:prstGeom prst="rect">
            <a:avLst/>
          </a:prstGeom>
          <a:noFill/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505F2EC4-0038-4C0F-9B88-E4E50AD3A3E7}"/>
              </a:ext>
            </a:extLst>
          </p:cNvPr>
          <p:cNvSpPr/>
          <p:nvPr/>
        </p:nvSpPr>
        <p:spPr>
          <a:xfrm>
            <a:off x="859302" y="4315908"/>
            <a:ext cx="1900186" cy="356217"/>
          </a:xfrm>
          <a:prstGeom prst="rect">
            <a:avLst/>
          </a:prstGeom>
          <a:solidFill>
            <a:srgbClr val="0184F1"/>
          </a:solidFill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외부</a:t>
            </a:r>
            <a:r>
              <a:rPr lang="en-US" altLang="ko-KR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– </a:t>
            </a:r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컨텍스트 데이터</a:t>
            </a:r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2BDB5EED-4CC0-4A07-AE88-A6DEC948B286}"/>
              </a:ext>
            </a:extLst>
          </p:cNvPr>
          <p:cNvSpPr/>
          <p:nvPr/>
        </p:nvSpPr>
        <p:spPr>
          <a:xfrm>
            <a:off x="1823813" y="4811470"/>
            <a:ext cx="851290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공공데이터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643EAA0-E3D0-4FD2-A0B5-0C527AFA9C9F}"/>
              </a:ext>
            </a:extLst>
          </p:cNvPr>
          <p:cNvSpPr/>
          <p:nvPr/>
        </p:nvSpPr>
        <p:spPr>
          <a:xfrm>
            <a:off x="1823812" y="5405079"/>
            <a:ext cx="851290" cy="415962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해외</a:t>
            </a:r>
            <a:endParaRPr lang="en-US" altLang="ko-KR" sz="1050" b="1" smtClean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5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51BEDB3-AF9C-4101-9F3D-DEAB0DDEDA83}"/>
              </a:ext>
            </a:extLst>
          </p:cNvPr>
          <p:cNvSpPr/>
          <p:nvPr/>
        </p:nvSpPr>
        <p:spPr>
          <a:xfrm>
            <a:off x="1823813" y="5100249"/>
            <a:ext cx="851290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유관 기관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F7BD15C-EDAE-42FC-97E4-5B8DCF82B03C}"/>
              </a:ext>
            </a:extLst>
          </p:cNvPr>
          <p:cNvSpPr/>
          <p:nvPr/>
        </p:nvSpPr>
        <p:spPr>
          <a:xfrm>
            <a:off x="3267388" y="1397576"/>
            <a:ext cx="3778952" cy="4525049"/>
          </a:xfrm>
          <a:prstGeom prst="rect">
            <a:avLst/>
          </a:prstGeom>
          <a:noFill/>
          <a:ln>
            <a:solidFill>
              <a:srgbClr val="9BAEC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00CC425F-FA9C-4138-A07F-E813B57C36CD}"/>
              </a:ext>
            </a:extLst>
          </p:cNvPr>
          <p:cNvSpPr/>
          <p:nvPr/>
        </p:nvSpPr>
        <p:spPr>
          <a:xfrm>
            <a:off x="3270433" y="1160463"/>
            <a:ext cx="3775907" cy="356217"/>
          </a:xfrm>
          <a:prstGeom prst="rect">
            <a:avLst/>
          </a:prstGeom>
          <a:solidFill>
            <a:srgbClr val="9BAEC8"/>
          </a:solidFill>
          <a:ln>
            <a:solidFill>
              <a:srgbClr val="9BAEC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KWEATER </a:t>
            </a:r>
            <a:r>
              <a:rPr lang="en-US" altLang="ko-KR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KIOT</a:t>
            </a:r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플랫폼</a:t>
            </a:r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98B735C5-218A-4FE9-9042-B8694F8165F6}"/>
              </a:ext>
            </a:extLst>
          </p:cNvPr>
          <p:cNvGrpSpPr/>
          <p:nvPr/>
        </p:nvGrpSpPr>
        <p:grpSpPr>
          <a:xfrm>
            <a:off x="4027426" y="5012638"/>
            <a:ext cx="2435087" cy="621823"/>
            <a:chOff x="2999727" y="5562501"/>
            <a:chExt cx="2139629" cy="646921"/>
          </a:xfrm>
        </p:grpSpPr>
        <p:pic>
          <p:nvPicPr>
            <p:cNvPr id="161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6362EA67-BD04-4F01-8138-2941DB1D6E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9727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2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4A788693-FB02-42D6-A424-02F5B7CAED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9624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629B7FA9-AA00-4E55-9FCA-81A5C9F955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2411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5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ADC6EC6F-2BF1-455E-91FA-04B82189AE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4014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6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704AFBF9-F4E9-4B29-84F2-4BE25373E4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7416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8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EB958B18-B5CF-467A-B989-1BFFB82D7E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8974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1" name="그림 170">
            <a:extLst>
              <a:ext uri="{FF2B5EF4-FFF2-40B4-BE49-F238E27FC236}">
                <a16:creationId xmlns:a16="http://schemas.microsoft.com/office/drawing/2014/main" id="{CFDA7123-6415-48B8-BB3E-927EA9ED55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552" y="1566014"/>
            <a:ext cx="1779168" cy="10012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2" name="그림 171">
            <a:extLst>
              <a:ext uri="{FF2B5EF4-FFF2-40B4-BE49-F238E27FC236}">
                <a16:creationId xmlns:a16="http://schemas.microsoft.com/office/drawing/2014/main" id="{E7FB6AF4-F601-412E-9C1A-7D2B0938C7C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9" r="9769" b="9836"/>
          <a:stretch/>
        </p:blipFill>
        <p:spPr>
          <a:xfrm>
            <a:off x="9513611" y="1552353"/>
            <a:ext cx="1781926" cy="10043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5683D916-B4C2-410F-825F-D47B47062F0E}"/>
              </a:ext>
            </a:extLst>
          </p:cNvPr>
          <p:cNvSpPr/>
          <p:nvPr/>
        </p:nvSpPr>
        <p:spPr>
          <a:xfrm>
            <a:off x="7567126" y="1408707"/>
            <a:ext cx="3829514" cy="2354946"/>
          </a:xfrm>
          <a:prstGeom prst="rect">
            <a:avLst/>
          </a:prstGeom>
          <a:noFill/>
          <a:ln>
            <a:solidFill>
              <a:srgbClr val="947A9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55F85DFB-C543-487A-9AA0-1A111B2CC1E9}"/>
              </a:ext>
            </a:extLst>
          </p:cNvPr>
          <p:cNvSpPr/>
          <p:nvPr/>
        </p:nvSpPr>
        <p:spPr>
          <a:xfrm>
            <a:off x="7567126" y="1160463"/>
            <a:ext cx="3836308" cy="356217"/>
          </a:xfrm>
          <a:prstGeom prst="rect">
            <a:avLst/>
          </a:prstGeom>
          <a:solidFill>
            <a:srgbClr val="947A9E"/>
          </a:solidFill>
          <a:ln>
            <a:solidFill>
              <a:srgbClr val="947A9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시각화 시스템</a:t>
            </a:r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903FBD91-BC04-46A1-ADF6-0D148F976957}"/>
              </a:ext>
            </a:extLst>
          </p:cNvPr>
          <p:cNvSpPr/>
          <p:nvPr/>
        </p:nvSpPr>
        <p:spPr>
          <a:xfrm>
            <a:off x="7560332" y="4260143"/>
            <a:ext cx="3829513" cy="1748675"/>
          </a:xfrm>
          <a:prstGeom prst="rect">
            <a:avLst/>
          </a:prstGeom>
          <a:noFill/>
          <a:ln>
            <a:solidFill>
              <a:srgbClr val="9BAEC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13A44A86-E829-4E47-A26F-71D0B761A3AF}"/>
              </a:ext>
            </a:extLst>
          </p:cNvPr>
          <p:cNvSpPr/>
          <p:nvPr/>
        </p:nvSpPr>
        <p:spPr>
          <a:xfrm>
            <a:off x="7560332" y="4011897"/>
            <a:ext cx="3836308" cy="356217"/>
          </a:xfrm>
          <a:prstGeom prst="rect">
            <a:avLst/>
          </a:prstGeom>
          <a:solidFill>
            <a:srgbClr val="9BAEC8"/>
          </a:solidFill>
          <a:ln>
            <a:solidFill>
              <a:srgbClr val="9BAEC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통합 모니터링 </a:t>
            </a:r>
            <a:r>
              <a:rPr lang="ko-KR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</a:p>
        </p:txBody>
      </p:sp>
      <p:pic>
        <p:nvPicPr>
          <p:cNvPr id="177" name="그림 176">
            <a:extLst>
              <a:ext uri="{FF2B5EF4-FFF2-40B4-BE49-F238E27FC236}">
                <a16:creationId xmlns:a16="http://schemas.microsoft.com/office/drawing/2014/main" id="{19286D22-9460-498B-8227-C42ADF1D75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6215" y="4722972"/>
            <a:ext cx="2013395" cy="1165193"/>
          </a:xfrm>
          <a:prstGeom prst="rect">
            <a:avLst/>
          </a:prstGeom>
        </p:spPr>
      </p:pic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CADC3518-8325-42B0-B6D0-192ED009B47C}"/>
              </a:ext>
            </a:extLst>
          </p:cNvPr>
          <p:cNvSpPr/>
          <p:nvPr/>
        </p:nvSpPr>
        <p:spPr>
          <a:xfrm>
            <a:off x="7629231" y="4458411"/>
            <a:ext cx="2088794" cy="227728"/>
          </a:xfrm>
          <a:prstGeom prst="rect">
            <a:avLst/>
          </a:prstGeom>
          <a:solidFill>
            <a:srgbClr val="0184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Air365 </a:t>
            </a:r>
            <a:r>
              <a:rPr lang="ko-KR" altLang="en-US" sz="1100" b="1" dirty="0">
                <a:solidFill>
                  <a:srgbClr val="FBB9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웹</a:t>
            </a:r>
            <a:r>
              <a:rPr lang="ko-KR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서비스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1207A3E1-F3ED-42BE-9F92-90816855C1C7}"/>
              </a:ext>
            </a:extLst>
          </p:cNvPr>
          <p:cNvSpPr/>
          <p:nvPr/>
        </p:nvSpPr>
        <p:spPr>
          <a:xfrm>
            <a:off x="9831825" y="4446081"/>
            <a:ext cx="1401673" cy="240058"/>
          </a:xfrm>
          <a:prstGeom prst="rect">
            <a:avLst/>
          </a:prstGeom>
          <a:solidFill>
            <a:srgbClr val="0184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mtClean="0">
                <a:solidFill>
                  <a:srgbClr val="FBB9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  <a:r>
              <a:rPr lang="ko-KR" altLang="en-US" sz="11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</a:p>
        </p:txBody>
      </p:sp>
      <p:cxnSp>
        <p:nvCxnSpPr>
          <p:cNvPr id="182" name="연결선: 꺾임 166">
            <a:extLst>
              <a:ext uri="{FF2B5EF4-FFF2-40B4-BE49-F238E27FC236}">
                <a16:creationId xmlns:a16="http://schemas.microsoft.com/office/drawing/2014/main" id="{A95E32FB-3AFA-4C24-B641-CA08DFBC50D5}"/>
              </a:ext>
            </a:extLst>
          </p:cNvPr>
          <p:cNvCxnSpPr>
            <a:cxnSpLocks/>
            <a:stCxn id="250" idx="3"/>
            <a:endCxn id="175" idx="1"/>
          </p:cNvCxnSpPr>
          <p:nvPr/>
        </p:nvCxnSpPr>
        <p:spPr>
          <a:xfrm>
            <a:off x="7070996" y="2968266"/>
            <a:ext cx="489336" cy="2166215"/>
          </a:xfrm>
          <a:prstGeom prst="bentConnector3">
            <a:avLst>
              <a:gd name="adj1" fmla="val 50000"/>
            </a:avLst>
          </a:prstGeom>
          <a:ln w="15875">
            <a:solidFill>
              <a:srgbClr val="0184F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연결선: 꺾임 167">
            <a:extLst>
              <a:ext uri="{FF2B5EF4-FFF2-40B4-BE49-F238E27FC236}">
                <a16:creationId xmlns:a16="http://schemas.microsoft.com/office/drawing/2014/main" id="{731DB24A-94A4-4250-885B-B358EBF323BA}"/>
              </a:ext>
            </a:extLst>
          </p:cNvPr>
          <p:cNvCxnSpPr>
            <a:cxnSpLocks/>
            <a:stCxn id="250" idx="3"/>
            <a:endCxn id="173" idx="1"/>
          </p:cNvCxnSpPr>
          <p:nvPr/>
        </p:nvCxnSpPr>
        <p:spPr>
          <a:xfrm flipV="1">
            <a:off x="7070996" y="2586180"/>
            <a:ext cx="496130" cy="382086"/>
          </a:xfrm>
          <a:prstGeom prst="bentConnector3">
            <a:avLst>
              <a:gd name="adj1" fmla="val 50000"/>
            </a:avLst>
          </a:prstGeom>
          <a:ln w="15875">
            <a:solidFill>
              <a:srgbClr val="0184F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D83B2C01-7D63-4676-A195-C41F913DF48F}"/>
              </a:ext>
            </a:extLst>
          </p:cNvPr>
          <p:cNvGrpSpPr/>
          <p:nvPr/>
        </p:nvGrpSpPr>
        <p:grpSpPr>
          <a:xfrm>
            <a:off x="1032136" y="3124434"/>
            <a:ext cx="489551" cy="687461"/>
            <a:chOff x="1012317" y="936622"/>
            <a:chExt cx="1162644" cy="1632663"/>
          </a:xfrm>
        </p:grpSpPr>
        <p:pic>
          <p:nvPicPr>
            <p:cNvPr id="190" name="Picture 2">
              <a:extLst>
                <a:ext uri="{FF2B5EF4-FFF2-40B4-BE49-F238E27FC236}">
                  <a16:creationId xmlns:a16="http://schemas.microsoft.com/office/drawing/2014/main" id="{E1B4F89B-650B-44FB-827F-EF706469B6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5446"/>
            <a:stretch/>
          </p:blipFill>
          <p:spPr bwMode="auto">
            <a:xfrm>
              <a:off x="1012317" y="936622"/>
              <a:ext cx="1162644" cy="689913"/>
            </a:xfrm>
            <a:prstGeom prst="rect">
              <a:avLst/>
            </a:prstGeom>
            <a:noFill/>
          </p:spPr>
        </p:pic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090BD673-B81E-4E7E-9CD6-DCA83DEF3B53}"/>
                </a:ext>
              </a:extLst>
            </p:cNvPr>
            <p:cNvGrpSpPr/>
            <p:nvPr/>
          </p:nvGrpSpPr>
          <p:grpSpPr>
            <a:xfrm>
              <a:off x="1087645" y="1445678"/>
              <a:ext cx="792840" cy="1123607"/>
              <a:chOff x="3067050" y="767272"/>
              <a:chExt cx="3085245" cy="4372389"/>
            </a:xfrm>
          </p:grpSpPr>
          <p:pic>
            <p:nvPicPr>
              <p:cNvPr id="193" name="그림 192">
                <a:extLst>
                  <a:ext uri="{FF2B5EF4-FFF2-40B4-BE49-F238E27FC236}">
                    <a16:creationId xmlns:a16="http://schemas.microsoft.com/office/drawing/2014/main" id="{3A97DF2B-CFDE-4B9A-B8F8-6E8DE8D634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67050" y="767272"/>
                <a:ext cx="3085245" cy="4372389"/>
              </a:xfrm>
              <a:prstGeom prst="rect">
                <a:avLst/>
              </a:prstGeom>
            </p:spPr>
          </p:pic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8C114DC7-2010-42AC-AE7F-75537AA0878E}"/>
                  </a:ext>
                </a:extLst>
              </p:cNvPr>
              <p:cNvSpPr/>
              <p:nvPr/>
            </p:nvSpPr>
            <p:spPr>
              <a:xfrm>
                <a:off x="3154681" y="1653540"/>
                <a:ext cx="2941320" cy="3398520"/>
              </a:xfrm>
              <a:prstGeom prst="rect">
                <a:avLst/>
              </a:prstGeom>
              <a:solidFill>
                <a:srgbClr val="4343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195" name="그림 194">
            <a:extLst>
              <a:ext uri="{FF2B5EF4-FFF2-40B4-BE49-F238E27FC236}">
                <a16:creationId xmlns:a16="http://schemas.microsoft.com/office/drawing/2014/main" id="{0FA43847-2715-469A-8E8E-7A477E3EE34A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7" t="10789" r="11019" b="15252"/>
          <a:stretch/>
        </p:blipFill>
        <p:spPr>
          <a:xfrm>
            <a:off x="1617799" y="3199559"/>
            <a:ext cx="454815" cy="621221"/>
          </a:xfrm>
          <a:prstGeom prst="rect">
            <a:avLst/>
          </a:prstGeom>
        </p:spPr>
      </p:pic>
      <p:cxnSp>
        <p:nvCxnSpPr>
          <p:cNvPr id="205" name="꺾인 연결선 204"/>
          <p:cNvCxnSpPr>
            <a:stCxn id="221" idx="1"/>
            <a:endCxn id="133" idx="3"/>
          </p:cNvCxnSpPr>
          <p:nvPr/>
        </p:nvCxnSpPr>
        <p:spPr>
          <a:xfrm rot="10800000" flipV="1">
            <a:off x="2759487" y="3434032"/>
            <a:ext cx="490522" cy="12955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18129840-4DB9-4B6D-8E3D-46203B11A660}"/>
              </a:ext>
            </a:extLst>
          </p:cNvPr>
          <p:cNvGrpSpPr/>
          <p:nvPr/>
        </p:nvGrpSpPr>
        <p:grpSpPr>
          <a:xfrm>
            <a:off x="9859819" y="4727759"/>
            <a:ext cx="1370977" cy="1160406"/>
            <a:chOff x="6529387" y="1633782"/>
            <a:chExt cx="2584428" cy="2187482"/>
          </a:xfrm>
        </p:grpSpPr>
        <p:pic>
          <p:nvPicPr>
            <p:cNvPr id="212" name="그림 211">
              <a:extLst>
                <a:ext uri="{FF2B5EF4-FFF2-40B4-BE49-F238E27FC236}">
                  <a16:creationId xmlns:a16="http://schemas.microsoft.com/office/drawing/2014/main" id="{5237E3D5-4528-43C4-97A3-1DBCED2C8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9387" y="1633782"/>
              <a:ext cx="1230459" cy="2187482"/>
            </a:xfrm>
            <a:prstGeom prst="rect">
              <a:avLst/>
            </a:prstGeom>
          </p:spPr>
        </p:pic>
        <p:pic>
          <p:nvPicPr>
            <p:cNvPr id="213" name="그림 212">
              <a:extLst>
                <a:ext uri="{FF2B5EF4-FFF2-40B4-BE49-F238E27FC236}">
                  <a16:creationId xmlns:a16="http://schemas.microsoft.com/office/drawing/2014/main" id="{6FDDB59C-F24F-4043-B414-68BBA9571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3356" y="1633782"/>
              <a:ext cx="1230459" cy="2187482"/>
            </a:xfrm>
            <a:prstGeom prst="rect">
              <a:avLst/>
            </a:prstGeom>
          </p:spPr>
        </p:pic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3063" y="4811469"/>
            <a:ext cx="751640" cy="977607"/>
          </a:xfrm>
          <a:prstGeom prst="rect">
            <a:avLst/>
          </a:prstGeom>
        </p:spPr>
      </p:pic>
      <p:sp>
        <p:nvSpPr>
          <p:cNvPr id="221" name="TextBox 220"/>
          <p:cNvSpPr txBox="1"/>
          <p:nvPr/>
        </p:nvSpPr>
        <p:spPr bwMode="auto">
          <a:xfrm>
            <a:off x="3250009" y="2349119"/>
            <a:ext cx="954224" cy="21698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REST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MQTT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OpenAPI</a:t>
            </a:r>
            <a:endParaRPr lang="en-US" altLang="ko-KR" sz="1000" b="1" kern="0" spc="-51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Agent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Crawling</a:t>
            </a:r>
            <a:endParaRPr lang="en-US" altLang="ko-KR" sz="1000" b="1" kern="0" spc="-51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28" name="TextBox 227"/>
          <p:cNvSpPr txBox="1"/>
          <p:nvPr/>
        </p:nvSpPr>
        <p:spPr bwMode="auto">
          <a:xfrm>
            <a:off x="3266846" y="1743928"/>
            <a:ext cx="943360" cy="3462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1100" b="1" kern="0" spc="-51" dirty="0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데이터 수집</a:t>
            </a:r>
            <a:endParaRPr lang="ko-KR" altLang="en-US" sz="1100" b="1" kern="0" spc="-51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Arial" pitchFamily="34" charset="0"/>
            </a:endParaRPr>
          </a:p>
        </p:txBody>
      </p:sp>
      <p:sp>
        <p:nvSpPr>
          <p:cNvPr id="248" name="모서리가 둥근 직사각형 247"/>
          <p:cNvSpPr/>
          <p:nvPr/>
        </p:nvSpPr>
        <p:spPr>
          <a:xfrm>
            <a:off x="6091262" y="1622362"/>
            <a:ext cx="893647" cy="329508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9" name="TextBox 248"/>
          <p:cNvSpPr txBox="1"/>
          <p:nvPr/>
        </p:nvSpPr>
        <p:spPr bwMode="auto">
          <a:xfrm>
            <a:off x="6074605" y="1714185"/>
            <a:ext cx="943360" cy="3067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11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데이터 제공</a:t>
            </a:r>
            <a:endParaRPr lang="ko-KR" altLang="en-US" sz="1100" b="1" kern="0" spc="-51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Arial" pitchFamily="34" charset="0"/>
            </a:endParaRPr>
          </a:p>
        </p:txBody>
      </p:sp>
      <p:sp>
        <p:nvSpPr>
          <p:cNvPr id="250" name="TextBox 249"/>
          <p:cNvSpPr txBox="1"/>
          <p:nvPr/>
        </p:nvSpPr>
        <p:spPr bwMode="auto">
          <a:xfrm>
            <a:off x="6116772" y="2345018"/>
            <a:ext cx="954224" cy="124649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REST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OpenAPI</a:t>
            </a:r>
            <a:endParaRPr lang="en-US" altLang="ko-KR" sz="1000" b="1" kern="0" spc="-51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Agent</a:t>
            </a:r>
          </a:p>
        </p:txBody>
      </p:sp>
      <p:pic>
        <p:nvPicPr>
          <p:cNvPr id="251" name="Picture 8" descr="https://cdn1.iconfinder.com/data/icons/database/PNG/512/Database_1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6874" y="3777093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Picture 12" descr="http://farm3.staticflickr.com/2782/4295049988_4fdbbd7abf.jpg"/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93" t="11245" r="12677" b="15231"/>
          <a:stretch/>
        </p:blipFill>
        <p:spPr bwMode="auto">
          <a:xfrm>
            <a:off x="6550119" y="3773504"/>
            <a:ext cx="416891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3" name="TextBox 252"/>
          <p:cNvSpPr txBox="1"/>
          <p:nvPr/>
        </p:nvSpPr>
        <p:spPr bwMode="auto">
          <a:xfrm>
            <a:off x="6109191" y="4369196"/>
            <a:ext cx="919220" cy="2540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defRPr/>
            </a:pPr>
            <a:r>
              <a:rPr lang="en-US" altLang="ko-KR" sz="1051" b="1" kern="0" spc="-100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Service </a:t>
            </a:r>
            <a:r>
              <a:rPr lang="en-US" altLang="ko-KR" sz="1051" b="1" kern="0" spc="-100" dirty="0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DB</a:t>
            </a:r>
            <a:endParaRPr lang="en-US" altLang="ko-KR" sz="1051" b="1" kern="0" spc="-100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4" name="AutoShape 11"/>
          <p:cNvSpPr>
            <a:spLocks noChangeArrowheads="1"/>
          </p:cNvSpPr>
          <p:nvPr/>
        </p:nvSpPr>
        <p:spPr bwMode="auto">
          <a:xfrm>
            <a:off x="4260301" y="3238178"/>
            <a:ext cx="1792345" cy="1679274"/>
          </a:xfrm>
          <a:prstGeom prst="roundRect">
            <a:avLst>
              <a:gd name="adj" fmla="val 6472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12700">
            <a:solidFill>
              <a:srgbClr val="365F8C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56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28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00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72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4346747" y="3246119"/>
            <a:ext cx="1608044" cy="3693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200" b="1" kern="0" spc="-51" dirty="0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하둡 기반 저장 시스템</a:t>
            </a:r>
            <a:endParaRPr lang="ko-KR" altLang="en-US" sz="1200" b="1" kern="0" spc="-51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6" name="모서리가 둥근 직사각형 255"/>
          <p:cNvSpPr/>
          <p:nvPr/>
        </p:nvSpPr>
        <p:spPr>
          <a:xfrm>
            <a:off x="4381990" y="4312845"/>
            <a:ext cx="1590710" cy="543713"/>
          </a:xfrm>
          <a:prstGeom prst="roundRect">
            <a:avLst/>
          </a:prstGeom>
          <a:solidFill>
            <a:srgbClr val="0070C0"/>
          </a:solidFill>
          <a:ln w="19050">
            <a:solidFill>
              <a:schemeClr val="bg1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lvl="0" algn="ctr" latinLnBrk="0">
              <a:lnSpc>
                <a:spcPct val="150000"/>
              </a:lnSpc>
              <a:defRPr/>
            </a:pPr>
            <a:endParaRPr lang="en-US" altLang="ko-KR" sz="1200" b="1" kern="0" spc="-51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7" name="TextBox 256"/>
          <p:cNvSpPr txBox="1"/>
          <p:nvPr/>
        </p:nvSpPr>
        <p:spPr bwMode="auto">
          <a:xfrm>
            <a:off x="4440068" y="4251016"/>
            <a:ext cx="1514723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200" b="1" kern="0" spc="-51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HDFS</a:t>
            </a:r>
            <a:endParaRPr lang="en-US" altLang="ko-KR" sz="1200" b="1" kern="0" spc="-51" dirty="0" smtClean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Streaming </a:t>
            </a:r>
            <a:r>
              <a:rPr lang="en-US" altLang="ko-KR" sz="1000" b="1" kern="0" spc="-51" dirty="0" smtClean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Sensor Data</a:t>
            </a:r>
            <a:endParaRPr lang="en-US" altLang="ko-KR" sz="1000" b="1" kern="0" spc="-51" dirty="0">
              <a:ln w="1143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8" name="모서리가 둥근 직사각형 257"/>
          <p:cNvSpPr/>
          <p:nvPr/>
        </p:nvSpPr>
        <p:spPr>
          <a:xfrm>
            <a:off x="4389862" y="3659710"/>
            <a:ext cx="1590710" cy="543713"/>
          </a:xfrm>
          <a:prstGeom prst="roundRect">
            <a:avLst/>
          </a:prstGeom>
          <a:solidFill>
            <a:srgbClr val="5B9BD5"/>
          </a:solidFill>
          <a:ln w="19050">
            <a:solidFill>
              <a:schemeClr val="bg1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lvl="0" algn="ctr" latinLnBrk="0">
              <a:lnSpc>
                <a:spcPct val="150000"/>
              </a:lnSpc>
              <a:defRPr/>
            </a:pPr>
            <a:endParaRPr lang="en-US" altLang="ko-KR" sz="1200" b="1" kern="0" spc="-51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9" name="TextBox 258"/>
          <p:cNvSpPr txBox="1"/>
          <p:nvPr/>
        </p:nvSpPr>
        <p:spPr bwMode="auto">
          <a:xfrm>
            <a:off x="4414259" y="3627056"/>
            <a:ext cx="1542510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200" b="1" kern="0" spc="-51" smtClean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HBase  OpenTSDB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Time Series DataBase</a:t>
            </a:r>
            <a:endParaRPr lang="en-US" altLang="ko-KR" sz="1000" b="1" kern="0" spc="-51" dirty="0">
              <a:ln w="1143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60" name="AutoShape 11"/>
          <p:cNvSpPr>
            <a:spLocks noChangeArrowheads="1"/>
          </p:cNvSpPr>
          <p:nvPr/>
        </p:nvSpPr>
        <p:spPr bwMode="auto">
          <a:xfrm>
            <a:off x="4252163" y="1622363"/>
            <a:ext cx="1792345" cy="1523461"/>
          </a:xfrm>
          <a:prstGeom prst="roundRect">
            <a:avLst>
              <a:gd name="adj" fmla="val 6472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12700">
            <a:solidFill>
              <a:srgbClr val="365F8C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56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28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00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72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61" name="직사각형 260"/>
          <p:cNvSpPr/>
          <p:nvPr/>
        </p:nvSpPr>
        <p:spPr>
          <a:xfrm>
            <a:off x="4269500" y="1640215"/>
            <a:ext cx="1757670" cy="3693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200" b="1" kern="0" spc="-51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데이터 처리</a:t>
            </a:r>
            <a:r>
              <a:rPr lang="en-US" altLang="ko-KR" sz="1200" b="1" kern="0" spc="-51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·</a:t>
            </a:r>
            <a:r>
              <a:rPr lang="ko-KR" altLang="en-US" sz="1200" b="1" kern="0" spc="-51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분석 시스템</a:t>
            </a:r>
            <a:endParaRPr lang="ko-KR" altLang="en-US" sz="1200" b="1" kern="0" spc="-51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62" name="모서리가 둥근 직사각형 261"/>
          <p:cNvSpPr/>
          <p:nvPr/>
        </p:nvSpPr>
        <p:spPr>
          <a:xfrm>
            <a:off x="4399899" y="2216779"/>
            <a:ext cx="1488433" cy="851568"/>
          </a:xfrm>
          <a:prstGeom prst="roundRect">
            <a:avLst/>
          </a:prstGeom>
          <a:solidFill>
            <a:srgbClr val="FFC00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3" name="TextBox 262"/>
          <p:cNvSpPr txBox="1"/>
          <p:nvPr/>
        </p:nvSpPr>
        <p:spPr bwMode="auto">
          <a:xfrm>
            <a:off x="4389862" y="1998091"/>
            <a:ext cx="1508505" cy="34624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예측</a:t>
            </a:r>
            <a:r>
              <a:rPr lang="en-US" altLang="ko-KR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·</a:t>
            </a:r>
            <a:r>
              <a:rPr lang="ko-KR" altLang="en-US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맞춤형</a:t>
            </a:r>
            <a:r>
              <a:rPr lang="en-US" altLang="ko-KR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·</a:t>
            </a:r>
            <a:r>
              <a:rPr lang="ko-KR" altLang="en-US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추천</a:t>
            </a:r>
            <a:endParaRPr lang="en-US" altLang="ko-KR" sz="1100" b="1" kern="0" spc="-51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66" name="TextBox 265"/>
          <p:cNvSpPr txBox="1"/>
          <p:nvPr/>
        </p:nvSpPr>
        <p:spPr bwMode="auto">
          <a:xfrm>
            <a:off x="4659165" y="2284470"/>
            <a:ext cx="1049646" cy="78483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accent1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LSTM + CNN</a:t>
            </a:r>
            <a:endParaRPr lang="en-US" altLang="ko-KR" sz="1000" b="1" kern="0" spc="-51" dirty="0" smtClean="0">
              <a:ln w="11430"/>
              <a:solidFill>
                <a:schemeClr val="accent1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accent1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DNN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accent1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Consulting</a:t>
            </a:r>
            <a:endParaRPr lang="en-US" altLang="ko-KR" sz="1000" b="1" kern="0" spc="-51" dirty="0">
              <a:ln w="11430"/>
              <a:solidFill>
                <a:schemeClr val="accent1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67" name="TextBox 266"/>
          <p:cNvSpPr txBox="1"/>
          <p:nvPr/>
        </p:nvSpPr>
        <p:spPr bwMode="auto">
          <a:xfrm>
            <a:off x="4306173" y="5633675"/>
            <a:ext cx="1707473" cy="2540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defRPr/>
            </a:pPr>
            <a:r>
              <a:rPr lang="en-US" altLang="ko-KR" sz="1051" b="1" kern="0" spc="-100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HA Cluster Architecture</a:t>
            </a:r>
            <a:endParaRPr lang="en-US" altLang="ko-KR" sz="1051" b="1" kern="0" spc="-100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cxnSp>
        <p:nvCxnSpPr>
          <p:cNvPr id="274" name="꺾인 연결선 273"/>
          <p:cNvCxnSpPr/>
          <p:nvPr/>
        </p:nvCxnSpPr>
        <p:spPr>
          <a:xfrm rot="10800000">
            <a:off x="2759487" y="2343169"/>
            <a:ext cx="490522" cy="146409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/>
          <p:nvPr/>
        </p:nvCxnSpPr>
        <p:spPr>
          <a:xfrm rot="10800000" flipV="1">
            <a:off x="2759487" y="3079474"/>
            <a:ext cx="490522" cy="180935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8" name="개체 2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408685"/>
              </p:ext>
            </p:extLst>
          </p:nvPr>
        </p:nvGraphicFramePr>
        <p:xfrm>
          <a:off x="7666215" y="2670684"/>
          <a:ext cx="1755902" cy="987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" name="Image" r:id="rId17" imgW="5079240" imgH="2856960" progId="Photoshop.Image.13">
                  <p:embed/>
                </p:oleObj>
              </mc:Choice>
              <mc:Fallback>
                <p:oleObj name="Image" r:id="rId17" imgW="5079240" imgH="285696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66215" y="2670684"/>
                        <a:ext cx="1755902" cy="987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" name="개체 2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400087"/>
              </p:ext>
            </p:extLst>
          </p:nvPr>
        </p:nvGraphicFramePr>
        <p:xfrm>
          <a:off x="9521205" y="2664593"/>
          <a:ext cx="1774331" cy="987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" name="Image" r:id="rId19" imgW="5079240" imgH="2996640" progId="Photoshop.Image.13">
                  <p:embed/>
                </p:oleObj>
              </mc:Choice>
              <mc:Fallback>
                <p:oleObj name="Image" r:id="rId19" imgW="5079240" imgH="299664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521205" y="2664593"/>
                        <a:ext cx="1774331" cy="9876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3294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KIOT-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기상 서버 현재 상황 및 문제점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9425" y="1161327"/>
            <a:ext cx="11066965" cy="5006631"/>
          </a:xfrm>
          <a:prstGeom prst="rect">
            <a:avLst/>
          </a:prstGeom>
          <a:solidFill>
            <a:schemeClr val="accent1">
              <a:lumMod val="20000"/>
              <a:lumOff val="80000"/>
              <a:alpha val="99000"/>
            </a:schemeClr>
          </a:solidFill>
          <a:ln w="22225">
            <a:solidFill>
              <a:srgbClr val="0047BA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36766" y="1541437"/>
            <a:ext cx="1302280" cy="980345"/>
            <a:chOff x="1647335" y="2994867"/>
            <a:chExt cx="1206565" cy="889352"/>
          </a:xfrm>
          <a:solidFill>
            <a:schemeClr val="bg1"/>
          </a:solidFill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206565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solidFill>
                    <a:srgbClr val="0000FF"/>
                  </a:solidFill>
                  <a:latin typeface="+mj-lt"/>
                </a:rPr>
                <a:t>KIOT</a:t>
              </a:r>
              <a:r>
                <a:rPr lang="ko-KR" altLang="en-US" sz="1200" b="1" smtClean="0">
                  <a:solidFill>
                    <a:srgbClr val="0000FF"/>
                  </a:solidFill>
                  <a:latin typeface="+mj-lt"/>
                </a:rPr>
                <a:t>플랫폼</a:t>
              </a:r>
              <a:r>
                <a:rPr lang="en-US" altLang="ko-KR" sz="1200" b="1" smtClean="0">
                  <a:solidFill>
                    <a:srgbClr val="0000FF"/>
                  </a:solidFill>
                  <a:latin typeface="+mj-lt"/>
                </a:rPr>
                <a:t> * 6</a:t>
              </a:r>
              <a:r>
                <a:rPr lang="ko-KR" altLang="en-US" sz="1200" b="1" smtClean="0">
                  <a:solidFill>
                    <a:srgbClr val="0000FF"/>
                  </a:solidFill>
                  <a:latin typeface="+mj-lt"/>
                </a:rPr>
                <a:t>대</a:t>
              </a:r>
              <a:endParaRPr lang="en-US" altLang="ko-KR" sz="1200" b="1" smtClean="0">
                <a:solidFill>
                  <a:srgbClr val="0000FF"/>
                </a:solidFill>
                <a:latin typeface="+mj-lt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27617" y="2628767"/>
            <a:ext cx="1138103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921410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mtClean="0">
                  <a:latin typeface="+mj-lt"/>
                </a:rPr>
                <a:t>구</a:t>
              </a:r>
              <a:r>
                <a:rPr lang="en-US" altLang="ko-KR" sz="1200" b="1" smtClean="0">
                  <a:latin typeface="+mj-lt"/>
                </a:rPr>
                <a:t>KIOT * 5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9893052" y="1541437"/>
            <a:ext cx="1366080" cy="980345"/>
            <a:chOff x="1647335" y="2994867"/>
            <a:chExt cx="1265678" cy="889352"/>
          </a:xfrm>
          <a:solidFill>
            <a:schemeClr val="bg1"/>
          </a:solidFill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265678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SDoT </a:t>
              </a:r>
              <a:r>
                <a:rPr lang="ko-KR" altLang="en-US" sz="1200" b="1" smtClean="0">
                  <a:latin typeface="+mj-lt"/>
                </a:rPr>
                <a:t>개발용 </a:t>
              </a:r>
              <a:r>
                <a:rPr lang="en-US" altLang="ko-KR" sz="1200" b="1" smtClean="0">
                  <a:latin typeface="+mj-lt"/>
                </a:rPr>
                <a:t>* 2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2766435" y="1541437"/>
            <a:ext cx="1661032" cy="980345"/>
            <a:chOff x="1647335" y="2994867"/>
            <a:chExt cx="1538951" cy="889352"/>
          </a:xfrm>
          <a:solidFill>
            <a:schemeClr val="bg1"/>
          </a:solidFill>
        </p:grpSpPr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538951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WEB-</a:t>
              </a:r>
              <a:r>
                <a:rPr lang="ko-KR" altLang="en-US" sz="1200" b="1" smtClean="0">
                  <a:latin typeface="+mj-lt"/>
                </a:rPr>
                <a:t>데이터센터 </a:t>
              </a:r>
              <a:r>
                <a:rPr lang="en-US" altLang="ko-KR" sz="1200" b="1" smtClean="0">
                  <a:latin typeface="+mj-lt"/>
                </a:rPr>
                <a:t>* 2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2738833" y="2590521"/>
            <a:ext cx="1292341" cy="980345"/>
            <a:chOff x="1647335" y="2994867"/>
            <a:chExt cx="1197358" cy="889352"/>
          </a:xfrm>
          <a:solidFill>
            <a:schemeClr val="bg1"/>
          </a:solidFill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197358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WEB-Air365</a:t>
              </a:r>
              <a:r>
                <a:rPr lang="ko-KR" altLang="en-US" sz="1200" b="1" smtClean="0">
                  <a:latin typeface="+mj-lt"/>
                </a:rPr>
                <a:t> </a:t>
              </a:r>
              <a:r>
                <a:rPr lang="en-US" altLang="ko-KR" sz="1200" b="1" smtClean="0">
                  <a:latin typeface="+mj-lt"/>
                </a:rPr>
                <a:t>* 1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40944" y="1546124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976065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Rodong2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30952" y="2590521"/>
            <a:ext cx="1168910" cy="964956"/>
            <a:chOff x="1647335" y="2994867"/>
            <a:chExt cx="1082999" cy="875391"/>
          </a:xfrm>
          <a:solidFill>
            <a:schemeClr val="bg1"/>
          </a:solidFill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082999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천리안</a:t>
              </a:r>
              <a:r>
                <a:rPr lang="en-US" altLang="ko-KR" sz="1100" b="1" smtClean="0"/>
                <a:t>2</a:t>
              </a:r>
              <a:r>
                <a:rPr lang="ko-KR" altLang="en-US" sz="1100" b="1" smtClean="0"/>
                <a:t>호</a:t>
              </a:r>
              <a:r>
                <a:rPr lang="en-US" altLang="ko-KR" sz="1100" b="1" smtClean="0"/>
                <a:t>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37561" y="3822285"/>
            <a:ext cx="1138102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44376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CMI * 2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6247030" y="1536449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647839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DB 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7843757" y="1541437"/>
            <a:ext cx="1237839" cy="964956"/>
            <a:chOff x="1647335" y="2994867"/>
            <a:chExt cx="1146862" cy="875391"/>
          </a:xfrm>
          <a:solidFill>
            <a:schemeClr val="bg1"/>
          </a:solidFill>
        </p:grpSpPr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146862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빅데이터팀</a:t>
              </a:r>
              <a:r>
                <a:rPr lang="en-US" altLang="ko-KR" sz="1100" b="1" smtClean="0"/>
                <a:t>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9889102" y="2742650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85469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개발용</a:t>
              </a:r>
              <a:r>
                <a:rPr lang="en-US" altLang="ko-KR" sz="1100" b="1" smtClean="0"/>
                <a:t> 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2766435" y="3822285"/>
            <a:ext cx="1138103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81785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Zabbix</a:t>
              </a:r>
              <a:r>
                <a:rPr lang="ko-KR" altLang="en-US" sz="1200" b="1" smtClean="0">
                  <a:latin typeface="+mj-lt"/>
                </a:rPr>
                <a:t> </a:t>
              </a:r>
              <a:r>
                <a:rPr lang="en-US" altLang="ko-KR" sz="1200" b="1" smtClean="0">
                  <a:latin typeface="+mj-lt"/>
                </a:rPr>
                <a:t>* 1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7807632" y="2742650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54773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영업</a:t>
              </a:r>
              <a:r>
                <a:rPr lang="en-US" altLang="ko-KR" sz="1100" b="1" smtClean="0"/>
                <a:t>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6246552" y="2628767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676057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API * 3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27617" y="5013219"/>
            <a:ext cx="1138102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03427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FOTA * 1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40944" y="3814875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54773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날씨 </a:t>
              </a:r>
              <a:r>
                <a:rPr lang="en-US" altLang="ko-KR" sz="1100" b="1" smtClean="0"/>
                <a:t>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2734168" y="4995349"/>
            <a:ext cx="1138103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02299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mtClean="0">
                  <a:latin typeface="+mj-lt"/>
                </a:rPr>
                <a:t>기타 </a:t>
              </a:r>
              <a:r>
                <a:rPr lang="en-US" altLang="ko-KR" sz="1200" b="1" smtClean="0">
                  <a:latin typeface="+mj-lt"/>
                </a:rPr>
                <a:t>* 2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40944" y="4995349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54773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기타 </a:t>
              </a:r>
              <a:r>
                <a:rPr lang="en-US" altLang="ko-KR" sz="1100" b="1" smtClean="0"/>
                <a:t>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6304415" y="3810038"/>
            <a:ext cx="1237839" cy="964956"/>
            <a:chOff x="1647335" y="2994867"/>
            <a:chExt cx="1146862" cy="875391"/>
          </a:xfrm>
          <a:solidFill>
            <a:schemeClr val="bg1"/>
          </a:solidFill>
        </p:grpSpPr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146862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데이터파싱</a:t>
              </a:r>
              <a:r>
                <a:rPr lang="en-US" altLang="ko-KR" sz="1100" b="1" smtClean="0"/>
                <a:t>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6304415" y="5013219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45368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Oracle 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8883971" y="3878842"/>
            <a:ext cx="2589962" cy="166199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mtClean="0"/>
              <a:t>#</a:t>
            </a:r>
            <a:r>
              <a:rPr lang="ko-KR" altLang="en-US" smtClean="0"/>
              <a:t>현재 문제점</a:t>
            </a:r>
            <a:endParaRPr lang="en-US" altLang="ko-KR" smtClean="0"/>
          </a:p>
          <a:p>
            <a:endParaRPr lang="en-US" altLang="ko-KR" sz="1400" b="1" smtClean="0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성능 중급 이상  </a:t>
            </a:r>
            <a:r>
              <a:rPr lang="en-US" altLang="ko-KR" sz="1400" b="1" smtClean="0"/>
              <a:t>40</a:t>
            </a:r>
            <a:r>
              <a:rPr lang="ko-KR" altLang="en-US" sz="1400" b="1" smtClean="0"/>
              <a:t>여대</a:t>
            </a:r>
            <a:endParaRPr lang="en-US" altLang="ko-KR" sz="1400" b="1" smtClean="0"/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관리 어려움</a:t>
            </a:r>
            <a:endParaRPr lang="en-US" altLang="ko-KR" sz="1400" b="1" smtClean="0"/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효율적인 사용 필요함</a:t>
            </a:r>
            <a:endParaRPr lang="en-US" altLang="ko-KR" sz="1400" b="1" smtClean="0"/>
          </a:p>
        </p:txBody>
      </p:sp>
    </p:spTree>
    <p:extLst>
      <p:ext uri="{BB962C8B-B14F-4D97-AF65-F5344CB8AC3E}">
        <p14:creationId xmlns:p14="http://schemas.microsoft.com/office/powerpoint/2010/main" val="251211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통합클러스터 구축 안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9425" y="1170649"/>
            <a:ext cx="6042673" cy="3046788"/>
          </a:xfrm>
          <a:prstGeom prst="rect">
            <a:avLst/>
          </a:prstGeom>
          <a:solidFill>
            <a:schemeClr val="accent1">
              <a:lumMod val="20000"/>
              <a:lumOff val="80000"/>
              <a:alpha val="99000"/>
            </a:schemeClr>
          </a:solidFill>
          <a:ln w="22225">
            <a:solidFill>
              <a:srgbClr val="0047BA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36765" y="1541437"/>
            <a:ext cx="1188146" cy="1165011"/>
            <a:chOff x="1647335" y="2994867"/>
            <a:chExt cx="1100820" cy="1056878"/>
          </a:xfrm>
          <a:solidFill>
            <a:schemeClr val="bg1"/>
          </a:solidFill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100820" cy="4188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kw-all  * 20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  <a:p>
              <a:r>
                <a:rPr lang="en-US" altLang="ko-KR" sz="1200" b="1" smtClean="0">
                  <a:latin typeface="+mj-lt"/>
                </a:rPr>
                <a:t>-</a:t>
              </a:r>
              <a:r>
                <a:rPr lang="ko-KR" altLang="en-US" sz="1200" b="1" smtClean="0">
                  <a:latin typeface="+mj-lt"/>
                </a:rPr>
                <a:t>운영 클러스터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27615" y="2908689"/>
            <a:ext cx="1515158" cy="980345"/>
            <a:chOff x="1647335" y="2994867"/>
            <a:chExt cx="1403800" cy="889352"/>
          </a:xfrm>
          <a:solidFill>
            <a:schemeClr val="bg1"/>
          </a:solidFill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403800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mtClean="0">
                  <a:latin typeface="+mj-lt"/>
                </a:rPr>
                <a:t>개발 클러스터 </a:t>
              </a:r>
              <a:r>
                <a:rPr lang="en-US" altLang="ko-KR" sz="1200" b="1" smtClean="0">
                  <a:latin typeface="+mj-lt"/>
                </a:rPr>
                <a:t>* 6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40944" y="1546124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84477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기상 </a:t>
              </a:r>
              <a:r>
                <a:rPr lang="en-US" altLang="ko-KR" sz="1100" b="1" smtClean="0"/>
                <a:t> * 5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31613" y="2924078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84477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기타 </a:t>
              </a:r>
              <a:r>
                <a:rPr lang="en-US" altLang="ko-KR" sz="1100" b="1" smtClean="0"/>
                <a:t> * 5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125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2570D27-1007-427D-8C22-4FD3C1F2D220}"/>
              </a:ext>
            </a:extLst>
          </p:cNvPr>
          <p:cNvCxnSpPr/>
          <p:nvPr/>
        </p:nvCxnSpPr>
        <p:spPr>
          <a:xfrm>
            <a:off x="3519709" y="4189455"/>
            <a:ext cx="423965" cy="11551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1529830" y="150750"/>
            <a:ext cx="3534622" cy="366332"/>
          </a:xfrm>
        </p:spPr>
        <p:txBody>
          <a:bodyPr/>
          <a:lstStyle/>
          <a:p>
            <a:r>
              <a:rPr lang="ko-KR" altLang="en-US" sz="2359" b="1" dirty="0" smtClean="0">
                <a:solidFill>
                  <a:srgbClr val="002060"/>
                </a:solidFill>
                <a:latin typeface="+mj-lt"/>
              </a:rPr>
              <a:t>기존 데이터 시스템 구성도</a:t>
            </a:r>
            <a:endParaRPr lang="ko-KR" altLang="en-US" sz="2359" b="1" dirty="0">
              <a:solidFill>
                <a:srgbClr val="002060"/>
              </a:solidFill>
              <a:latin typeface="+mj-lt"/>
            </a:endParaRP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B2F3FCE7-9CE0-4C8B-BDD5-1B49C86F0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74" y="1601987"/>
            <a:ext cx="1911905" cy="371475"/>
          </a:xfrm>
          <a:prstGeom prst="rect">
            <a:avLst/>
          </a:prstGeom>
        </p:spPr>
      </p:pic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A0D747DA-800D-4229-BAC5-F8122D74F0EE}"/>
              </a:ext>
            </a:extLst>
          </p:cNvPr>
          <p:cNvCxnSpPr>
            <a:stCxn id="75" idx="2"/>
          </p:cNvCxnSpPr>
          <p:nvPr/>
        </p:nvCxnSpPr>
        <p:spPr>
          <a:xfrm>
            <a:off x="1404327" y="1973462"/>
            <a:ext cx="485847" cy="1711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819C20F5-F39E-4C91-BA95-A7A9FEBF3BB7}"/>
              </a:ext>
            </a:extLst>
          </p:cNvPr>
          <p:cNvGrpSpPr/>
          <p:nvPr/>
        </p:nvGrpSpPr>
        <p:grpSpPr>
          <a:xfrm>
            <a:off x="1405374" y="3728632"/>
            <a:ext cx="912045" cy="830024"/>
            <a:chOff x="577621" y="2994868"/>
            <a:chExt cx="1164338" cy="1037530"/>
          </a:xfrm>
        </p:grpSpPr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BBCC8D46-A7B8-49BB-8E52-C27AB4BBC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758" y="2994868"/>
              <a:ext cx="638063" cy="638063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933D5ED-84CF-4D39-AFB5-F8266CDD849A}"/>
                </a:ext>
              </a:extLst>
            </p:cNvPr>
            <p:cNvSpPr txBox="1"/>
            <p:nvPr/>
          </p:nvSpPr>
          <p:spPr>
            <a:xfrm>
              <a:off x="577621" y="3632930"/>
              <a:ext cx="1164338" cy="3994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98" b="1" dirty="0"/>
                <a:t>기상 데이터 </a:t>
              </a:r>
              <a:r>
                <a:rPr lang="ko-KR" altLang="en-US" sz="998" b="1" dirty="0" smtClean="0"/>
                <a:t>수신</a:t>
              </a:r>
              <a:endParaRPr lang="en-US" altLang="ko-KR" sz="998" b="1" dirty="0" smtClean="0"/>
            </a:p>
            <a:p>
              <a:pPr algn="ctr"/>
              <a:r>
                <a:rPr lang="en-US" altLang="ko-KR" sz="998" b="1" dirty="0" smtClean="0"/>
                <a:t>(RAW DATA)</a:t>
              </a:r>
              <a:endParaRPr lang="en-US" altLang="ko-KR" sz="998" b="1" dirty="0"/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7E5235A-A6EA-4149-BED1-1F536A65228E}"/>
              </a:ext>
            </a:extLst>
          </p:cNvPr>
          <p:cNvGrpSpPr/>
          <p:nvPr/>
        </p:nvGrpSpPr>
        <p:grpSpPr>
          <a:xfrm>
            <a:off x="3957164" y="3551006"/>
            <a:ext cx="486410" cy="794650"/>
            <a:chOff x="3165073" y="2783210"/>
            <a:chExt cx="862305" cy="1114425"/>
          </a:xfrm>
        </p:grpSpPr>
        <p:sp>
          <p:nvSpPr>
            <p:cNvPr id="101" name="순서도: 자기 디스크 100">
              <a:extLst>
                <a:ext uri="{FF2B5EF4-FFF2-40B4-BE49-F238E27FC236}">
                  <a16:creationId xmlns:a16="http://schemas.microsoft.com/office/drawing/2014/main" id="{BB6CE59D-46E3-476F-9CEA-AF160C2339F6}"/>
                </a:ext>
              </a:extLst>
            </p:cNvPr>
            <p:cNvSpPr/>
            <p:nvPr/>
          </p:nvSpPr>
          <p:spPr>
            <a:xfrm>
              <a:off x="3165073" y="2783210"/>
              <a:ext cx="843172" cy="1114425"/>
            </a:xfrm>
            <a:prstGeom prst="flowChartMagneticDisk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98" b="1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09D9EB1-7F78-479D-8CA0-088B8967063E}"/>
                </a:ext>
              </a:extLst>
            </p:cNvPr>
            <p:cNvSpPr txBox="1"/>
            <p:nvPr/>
          </p:nvSpPr>
          <p:spPr>
            <a:xfrm>
              <a:off x="3197118" y="3293185"/>
              <a:ext cx="830260" cy="4481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98" b="1" dirty="0" smtClean="0">
                  <a:latin typeface="+mj-lt"/>
                </a:rPr>
                <a:t>ORACLE</a:t>
              </a:r>
            </a:p>
            <a:p>
              <a:pPr algn="ctr"/>
              <a:r>
                <a:rPr lang="en-US" altLang="ko-KR" sz="998" b="1" dirty="0" smtClean="0">
                  <a:latin typeface="+mj-lt"/>
                </a:rPr>
                <a:t>(MAIN)</a:t>
              </a:r>
              <a:endParaRPr lang="ko-KR" altLang="en-US" sz="998" b="1" dirty="0">
                <a:latin typeface="+mj-lt"/>
              </a:endParaRPr>
            </a:p>
          </p:txBody>
        </p:sp>
      </p:grp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5ED909F5-AF9B-4563-8ADD-4D50E28FEC4B}"/>
              </a:ext>
            </a:extLst>
          </p:cNvPr>
          <p:cNvCxnSpPr/>
          <p:nvPr/>
        </p:nvCxnSpPr>
        <p:spPr>
          <a:xfrm flipV="1">
            <a:off x="2356049" y="4042487"/>
            <a:ext cx="414307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02570D27-1007-427D-8C22-4FD3C1F2D220}"/>
              </a:ext>
            </a:extLst>
          </p:cNvPr>
          <p:cNvCxnSpPr/>
          <p:nvPr/>
        </p:nvCxnSpPr>
        <p:spPr>
          <a:xfrm>
            <a:off x="3519709" y="4047662"/>
            <a:ext cx="42576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18F7BE64-14A6-4FC3-9DFC-DFB2EE8EEC81}"/>
              </a:ext>
            </a:extLst>
          </p:cNvPr>
          <p:cNvGrpSpPr/>
          <p:nvPr/>
        </p:nvGrpSpPr>
        <p:grpSpPr>
          <a:xfrm>
            <a:off x="6387713" y="3551006"/>
            <a:ext cx="868443" cy="794650"/>
            <a:chOff x="2842461" y="2783210"/>
            <a:chExt cx="1539575" cy="1114425"/>
          </a:xfrm>
        </p:grpSpPr>
        <p:sp>
          <p:nvSpPr>
            <p:cNvPr id="143" name="순서도: 자기 디스크 142">
              <a:extLst>
                <a:ext uri="{FF2B5EF4-FFF2-40B4-BE49-F238E27FC236}">
                  <a16:creationId xmlns:a16="http://schemas.microsoft.com/office/drawing/2014/main" id="{98D96E16-4C68-474C-95AC-27BEDAD6AFEF}"/>
                </a:ext>
              </a:extLst>
            </p:cNvPr>
            <p:cNvSpPr/>
            <p:nvPr/>
          </p:nvSpPr>
          <p:spPr>
            <a:xfrm>
              <a:off x="3165073" y="2783210"/>
              <a:ext cx="843172" cy="1114425"/>
            </a:xfrm>
            <a:prstGeom prst="flowChartMagneticDisk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98" b="1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3834D6F7-80E4-40A5-B3F6-428D2D35FB67}"/>
                </a:ext>
              </a:extLst>
            </p:cNvPr>
            <p:cNvSpPr txBox="1"/>
            <p:nvPr/>
          </p:nvSpPr>
          <p:spPr>
            <a:xfrm>
              <a:off x="2842461" y="3293185"/>
              <a:ext cx="1539575" cy="4481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98" b="1" dirty="0">
                  <a:latin typeface="+mj-lt"/>
                </a:rPr>
                <a:t>MYSQL</a:t>
              </a:r>
            </a:p>
            <a:p>
              <a:pPr algn="ctr"/>
              <a:r>
                <a:rPr lang="en-US" altLang="ko-KR" sz="998" b="1" dirty="0" smtClean="0">
                  <a:latin typeface="+mj-lt"/>
                </a:rPr>
                <a:t>(</a:t>
              </a:r>
              <a:r>
                <a:rPr lang="ko-KR" altLang="en-US" sz="998" b="1" dirty="0" smtClean="0">
                  <a:latin typeface="+mj-lt"/>
                </a:rPr>
                <a:t>여러 개의 서버</a:t>
              </a:r>
              <a:r>
                <a:rPr lang="en-US" altLang="ko-KR" sz="998" b="1" dirty="0" smtClean="0">
                  <a:latin typeface="+mj-lt"/>
                </a:rPr>
                <a:t>)</a:t>
              </a:r>
              <a:endParaRPr lang="ko-KR" altLang="en-US" sz="998" b="1" dirty="0">
                <a:latin typeface="+mj-lt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9BFE2F22-11D7-4D6D-9F53-56209E1F4E4B}"/>
              </a:ext>
            </a:extLst>
          </p:cNvPr>
          <p:cNvGrpSpPr/>
          <p:nvPr/>
        </p:nvGrpSpPr>
        <p:grpSpPr>
          <a:xfrm>
            <a:off x="4675858" y="3728632"/>
            <a:ext cx="1345497" cy="830025"/>
            <a:chOff x="1496326" y="2994867"/>
            <a:chExt cx="1717691" cy="1037531"/>
          </a:xfrm>
        </p:grpSpPr>
        <p:pic>
          <p:nvPicPr>
            <p:cNvPr id="149" name="그림 148">
              <a:extLst>
                <a:ext uri="{FF2B5EF4-FFF2-40B4-BE49-F238E27FC236}">
                  <a16:creationId xmlns:a16="http://schemas.microsoft.com/office/drawing/2014/main" id="{5F921A5A-4534-426D-A1A2-B5066F170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D68FB89-9CD0-46B1-A68F-32303688EE65}"/>
                </a:ext>
              </a:extLst>
            </p:cNvPr>
            <p:cNvSpPr txBox="1"/>
            <p:nvPr/>
          </p:nvSpPr>
          <p:spPr>
            <a:xfrm>
              <a:off x="1496326" y="3632930"/>
              <a:ext cx="1717691" cy="3994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98" b="1" dirty="0" smtClean="0">
                  <a:latin typeface="+mj-lt"/>
                </a:rPr>
                <a:t>적재된 원본데이터를</a:t>
              </a:r>
              <a:endParaRPr lang="en-US" altLang="ko-KR" sz="998" b="1" dirty="0" smtClean="0">
                <a:latin typeface="+mj-lt"/>
              </a:endParaRPr>
            </a:p>
            <a:p>
              <a:pPr algn="ctr"/>
              <a:r>
                <a:rPr lang="ko-KR" altLang="en-US" sz="998" b="1" dirty="0" smtClean="0">
                  <a:latin typeface="+mj-lt"/>
                </a:rPr>
                <a:t>사용하기 편한 형태로 가공</a:t>
              </a:r>
              <a:endParaRPr lang="en-US" altLang="ko-KR" sz="998" b="1" dirty="0" smtClean="0">
                <a:latin typeface="+mj-lt"/>
              </a:endParaRPr>
            </a:p>
          </p:txBody>
        </p:sp>
      </p:grp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6D3D9104-1847-48C4-A570-BF98C0D94A4B}"/>
              </a:ext>
            </a:extLst>
          </p:cNvPr>
          <p:cNvCxnSpPr>
            <a:endCxn id="149" idx="1"/>
          </p:cNvCxnSpPr>
          <p:nvPr/>
        </p:nvCxnSpPr>
        <p:spPr>
          <a:xfrm flipV="1">
            <a:off x="4576318" y="3983858"/>
            <a:ext cx="543996" cy="638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8BC9087D-5CC2-4DE8-AA76-D16B52DA5E63}"/>
              </a:ext>
            </a:extLst>
          </p:cNvPr>
          <p:cNvCxnSpPr/>
          <p:nvPr/>
        </p:nvCxnSpPr>
        <p:spPr>
          <a:xfrm>
            <a:off x="5911171" y="4064788"/>
            <a:ext cx="5742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4AD4259E-2688-478A-9B13-2995CF205505}"/>
              </a:ext>
            </a:extLst>
          </p:cNvPr>
          <p:cNvSpPr txBox="1"/>
          <p:nvPr/>
        </p:nvSpPr>
        <p:spPr>
          <a:xfrm>
            <a:off x="3699962" y="4546796"/>
            <a:ext cx="1108922" cy="244760"/>
          </a:xfrm>
          <a:prstGeom prst="rect">
            <a:avLst/>
          </a:prstGeom>
          <a:noFill/>
        </p:spPr>
        <p:txBody>
          <a:bodyPr wrap="none" lIns="90311" tIns="45155" rIns="90311" bIns="45155" rtlCol="0">
            <a:spAutoFit/>
          </a:bodyPr>
          <a:lstStyle/>
          <a:p>
            <a:pPr algn="ctr"/>
            <a:r>
              <a:rPr lang="ko-KR" altLang="en-US" sz="998" b="1" dirty="0">
                <a:latin typeface="+mj-lt"/>
              </a:rPr>
              <a:t>원본데이터 적재</a:t>
            </a:r>
            <a:endParaRPr lang="en-US" altLang="ko-KR" sz="998" b="1" dirty="0">
              <a:latin typeface="+mj-lt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C5C5736-AA4F-4083-8D04-6CBF7EF840A5}"/>
              </a:ext>
            </a:extLst>
          </p:cNvPr>
          <p:cNvSpPr txBox="1"/>
          <p:nvPr/>
        </p:nvSpPr>
        <p:spPr>
          <a:xfrm>
            <a:off x="294571" y="1280281"/>
            <a:ext cx="2219513" cy="300608"/>
          </a:xfrm>
          <a:prstGeom prst="rect">
            <a:avLst/>
          </a:prstGeom>
          <a:noFill/>
        </p:spPr>
        <p:txBody>
          <a:bodyPr wrap="square" lIns="90311" tIns="45155" rIns="90311" bIns="45155" rtlCol="0">
            <a:spAutoFit/>
          </a:bodyPr>
          <a:lstStyle/>
          <a:p>
            <a:pPr algn="ctr"/>
            <a:r>
              <a:rPr lang="ko-KR" altLang="en-US" sz="1361" b="1" dirty="0">
                <a:latin typeface="+mj-lt"/>
              </a:rPr>
              <a:t>환경부 미세먼지 데이터</a:t>
            </a:r>
            <a:endParaRPr lang="en-US" altLang="ko-KR" sz="1361" b="1" dirty="0">
              <a:latin typeface="+mj-lt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D50423F5-AA83-4C7B-B565-144954D416C0}"/>
              </a:ext>
            </a:extLst>
          </p:cNvPr>
          <p:cNvSpPr/>
          <p:nvPr/>
        </p:nvSpPr>
        <p:spPr>
          <a:xfrm>
            <a:off x="10867930" y="3479523"/>
            <a:ext cx="537630" cy="112085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0311" tIns="45155" rIns="90311" bIns="45155" rtlCol="0" anchor="ctr"/>
          <a:lstStyle/>
          <a:p>
            <a:pPr algn="ctr"/>
            <a:r>
              <a:rPr lang="ko-KR" altLang="en-US" sz="1633" dirty="0"/>
              <a:t>사용자</a:t>
            </a:r>
            <a:endParaRPr lang="en-US" altLang="ko-KR" sz="1633" dirty="0"/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9BFE2F22-11D7-4D6D-9F53-56209E1F4E4B}"/>
              </a:ext>
            </a:extLst>
          </p:cNvPr>
          <p:cNvGrpSpPr/>
          <p:nvPr/>
        </p:nvGrpSpPr>
        <p:grpSpPr>
          <a:xfrm>
            <a:off x="2478046" y="3745758"/>
            <a:ext cx="1037720" cy="707171"/>
            <a:chOff x="1692784" y="2994867"/>
            <a:chExt cx="1324777" cy="883964"/>
          </a:xfrm>
        </p:grpSpPr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5F921A5A-4534-426D-A1A2-B5066F170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D68FB89-9CD0-46B1-A68F-32303688EE65}"/>
                </a:ext>
              </a:extLst>
            </p:cNvPr>
            <p:cNvSpPr txBox="1"/>
            <p:nvPr/>
          </p:nvSpPr>
          <p:spPr>
            <a:xfrm>
              <a:off x="1692784" y="3632930"/>
              <a:ext cx="1324777" cy="2459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98" b="1" dirty="0" smtClean="0">
                  <a:latin typeface="+mj-lt"/>
                </a:rPr>
                <a:t>오라클 서버로 전달 </a:t>
              </a:r>
              <a:endParaRPr lang="en-US" altLang="ko-KR" sz="998" b="1" dirty="0">
                <a:latin typeface="+mj-lt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819C20F5-F39E-4C91-BA95-A7A9FEBF3BB7}"/>
              </a:ext>
            </a:extLst>
          </p:cNvPr>
          <p:cNvGrpSpPr/>
          <p:nvPr/>
        </p:nvGrpSpPr>
        <p:grpSpPr>
          <a:xfrm>
            <a:off x="377744" y="3728633"/>
            <a:ext cx="912045" cy="830024"/>
            <a:chOff x="577621" y="2994868"/>
            <a:chExt cx="1164338" cy="1037530"/>
          </a:xfrm>
        </p:grpSpPr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BBCC8D46-A7B8-49BB-8E52-C27AB4BBC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758" y="2994868"/>
              <a:ext cx="638063" cy="638063"/>
            </a:xfrm>
            <a:prstGeom prst="rect">
              <a:avLst/>
            </a:prstGeom>
          </p:spPr>
        </p:pic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933D5ED-84CF-4D39-AFB5-F8266CDD849A}"/>
                </a:ext>
              </a:extLst>
            </p:cNvPr>
            <p:cNvSpPr txBox="1"/>
            <p:nvPr/>
          </p:nvSpPr>
          <p:spPr>
            <a:xfrm>
              <a:off x="577621" y="3632930"/>
              <a:ext cx="1164338" cy="3994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98" b="1" dirty="0"/>
                <a:t>기상 데이터 </a:t>
              </a:r>
              <a:r>
                <a:rPr lang="ko-KR" altLang="en-US" sz="998" b="1" dirty="0" smtClean="0"/>
                <a:t>수신</a:t>
              </a:r>
              <a:endParaRPr lang="en-US" altLang="ko-KR" sz="998" b="1" dirty="0" smtClean="0"/>
            </a:p>
            <a:p>
              <a:pPr algn="ctr"/>
              <a:r>
                <a:rPr lang="en-US" altLang="ko-KR" sz="998" b="1" dirty="0" smtClean="0"/>
                <a:t>(</a:t>
              </a:r>
              <a:r>
                <a:rPr lang="ko-KR" altLang="en-US" sz="998" b="1" dirty="0" smtClean="0"/>
                <a:t>영상 </a:t>
              </a:r>
              <a:r>
                <a:rPr lang="en-US" altLang="ko-KR" sz="998" b="1" dirty="0" smtClean="0"/>
                <a:t>DATA)</a:t>
              </a:r>
              <a:endParaRPr lang="en-US" altLang="ko-KR" sz="998" b="1" dirty="0"/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97E5235A-A6EA-4149-BED1-1F536A65228E}"/>
              </a:ext>
            </a:extLst>
          </p:cNvPr>
          <p:cNvGrpSpPr/>
          <p:nvPr/>
        </p:nvGrpSpPr>
        <p:grpSpPr>
          <a:xfrm>
            <a:off x="3922989" y="4951088"/>
            <a:ext cx="537583" cy="794650"/>
            <a:chOff x="3135737" y="2783210"/>
            <a:chExt cx="953025" cy="1114425"/>
          </a:xfrm>
        </p:grpSpPr>
        <p:sp>
          <p:nvSpPr>
            <p:cNvPr id="102" name="순서도: 자기 디스크 101">
              <a:extLst>
                <a:ext uri="{FF2B5EF4-FFF2-40B4-BE49-F238E27FC236}">
                  <a16:creationId xmlns:a16="http://schemas.microsoft.com/office/drawing/2014/main" id="{BB6CE59D-46E3-476F-9CEA-AF160C2339F6}"/>
                </a:ext>
              </a:extLst>
            </p:cNvPr>
            <p:cNvSpPr/>
            <p:nvPr/>
          </p:nvSpPr>
          <p:spPr>
            <a:xfrm>
              <a:off x="3165073" y="2783210"/>
              <a:ext cx="843172" cy="1114425"/>
            </a:xfrm>
            <a:prstGeom prst="flowChartMagneticDisk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98" b="1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09D9EB1-7F78-479D-8CA0-088B8967063E}"/>
                </a:ext>
              </a:extLst>
            </p:cNvPr>
            <p:cNvSpPr txBox="1"/>
            <p:nvPr/>
          </p:nvSpPr>
          <p:spPr>
            <a:xfrm>
              <a:off x="3135737" y="3293185"/>
              <a:ext cx="953025" cy="4481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98" b="1" dirty="0" smtClean="0">
                  <a:latin typeface="+mj-lt"/>
                </a:rPr>
                <a:t>ORACLE</a:t>
              </a:r>
            </a:p>
            <a:p>
              <a:pPr algn="ctr"/>
              <a:r>
                <a:rPr lang="en-US" altLang="ko-KR" sz="998" b="1" dirty="0" smtClean="0">
                  <a:latin typeface="+mj-lt"/>
                </a:rPr>
                <a:t>(BACKUP)</a:t>
              </a:r>
              <a:endParaRPr lang="ko-KR" altLang="en-US" sz="998" b="1" dirty="0">
                <a:latin typeface="+mj-lt"/>
              </a:endParaRP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4AD4259E-2688-478A-9B13-2995CF205505}"/>
              </a:ext>
            </a:extLst>
          </p:cNvPr>
          <p:cNvSpPr txBox="1"/>
          <p:nvPr/>
        </p:nvSpPr>
        <p:spPr>
          <a:xfrm>
            <a:off x="3732905" y="6059928"/>
            <a:ext cx="1108922" cy="398327"/>
          </a:xfrm>
          <a:prstGeom prst="rect">
            <a:avLst/>
          </a:prstGeom>
          <a:noFill/>
        </p:spPr>
        <p:txBody>
          <a:bodyPr wrap="none" lIns="90311" tIns="45155" rIns="90311" bIns="45155" rtlCol="0">
            <a:spAutoFit/>
          </a:bodyPr>
          <a:lstStyle/>
          <a:p>
            <a:pPr algn="ctr"/>
            <a:r>
              <a:rPr lang="ko-KR" altLang="en-US" sz="998" b="1" dirty="0" err="1">
                <a:latin typeface="+mj-lt"/>
              </a:rPr>
              <a:t>원본데이터</a:t>
            </a:r>
            <a:r>
              <a:rPr lang="ko-KR" altLang="en-US" sz="998" b="1" dirty="0">
                <a:latin typeface="+mj-lt"/>
              </a:rPr>
              <a:t> </a:t>
            </a:r>
            <a:r>
              <a:rPr lang="ko-KR" altLang="en-US" sz="998" b="1" dirty="0" smtClean="0">
                <a:latin typeface="+mj-lt"/>
              </a:rPr>
              <a:t>적재</a:t>
            </a:r>
            <a:endParaRPr lang="en-US" altLang="ko-KR" sz="998" b="1" dirty="0" smtClean="0">
              <a:latin typeface="+mj-lt"/>
            </a:endParaRPr>
          </a:p>
          <a:p>
            <a:pPr algn="ctr"/>
            <a:r>
              <a:rPr lang="en-US" altLang="ko-KR" sz="998" b="1" dirty="0" smtClean="0">
                <a:latin typeface="+mj-lt"/>
              </a:rPr>
              <a:t>(</a:t>
            </a:r>
            <a:r>
              <a:rPr lang="ko-KR" altLang="en-US" sz="998" b="1" dirty="0" smtClean="0">
                <a:latin typeface="+mj-lt"/>
              </a:rPr>
              <a:t>현재 </a:t>
            </a:r>
            <a:r>
              <a:rPr lang="ko-KR" altLang="en-US" sz="998" b="1" dirty="0" err="1" smtClean="0">
                <a:latin typeface="+mj-lt"/>
              </a:rPr>
              <a:t>복구중</a:t>
            </a:r>
            <a:r>
              <a:rPr lang="en-US" altLang="ko-KR" sz="998" b="1" dirty="0" smtClean="0">
                <a:latin typeface="+mj-lt"/>
              </a:rPr>
              <a:t>)</a:t>
            </a:r>
            <a:endParaRPr lang="en-US" altLang="ko-KR" sz="998" b="1" dirty="0">
              <a:latin typeface="+mj-lt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D68FB89-9CD0-46B1-A68F-32303688EE65}"/>
              </a:ext>
            </a:extLst>
          </p:cNvPr>
          <p:cNvSpPr txBox="1"/>
          <p:nvPr/>
        </p:nvSpPr>
        <p:spPr>
          <a:xfrm>
            <a:off x="6150058" y="4566428"/>
            <a:ext cx="1524776" cy="399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98" b="1" dirty="0" smtClean="0">
                <a:latin typeface="+mj-lt"/>
              </a:rPr>
              <a:t>가공 후 </a:t>
            </a:r>
            <a:endParaRPr lang="en-US" altLang="ko-KR" sz="998" b="1" dirty="0" smtClean="0">
              <a:latin typeface="+mj-lt"/>
            </a:endParaRPr>
          </a:p>
          <a:p>
            <a:pPr algn="ctr"/>
            <a:r>
              <a:rPr lang="ko-KR" altLang="en-US" sz="998" b="1" dirty="0" smtClean="0">
                <a:latin typeface="+mj-lt"/>
              </a:rPr>
              <a:t>최신 데이터만 업데이트</a:t>
            </a:r>
            <a:endParaRPr lang="en-US" altLang="ko-KR" sz="998" b="1" dirty="0" smtClean="0">
              <a:latin typeface="+mj-lt"/>
            </a:endParaRPr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8BC9087D-5CC2-4DE8-AA76-D16B52DA5E63}"/>
              </a:ext>
            </a:extLst>
          </p:cNvPr>
          <p:cNvCxnSpPr/>
          <p:nvPr/>
        </p:nvCxnSpPr>
        <p:spPr>
          <a:xfrm>
            <a:off x="7398808" y="4064788"/>
            <a:ext cx="3873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D50423F5-AA83-4C7B-B565-144954D416C0}"/>
              </a:ext>
            </a:extLst>
          </p:cNvPr>
          <p:cNvSpPr/>
          <p:nvPr/>
        </p:nvSpPr>
        <p:spPr>
          <a:xfrm>
            <a:off x="7902308" y="3479523"/>
            <a:ext cx="881542" cy="112592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0311" tIns="45155" rIns="90311" bIns="45155" rtlCol="0" anchor="ctr"/>
          <a:lstStyle/>
          <a:p>
            <a:pPr algn="ctr"/>
            <a:r>
              <a:rPr lang="ko-KR" altLang="en-US" sz="1050" dirty="0" smtClean="0">
                <a:solidFill>
                  <a:schemeClr val="tx1"/>
                </a:solidFill>
              </a:rPr>
              <a:t>사용하기 편한 형태로 파일 생성</a:t>
            </a:r>
            <a:r>
              <a:rPr lang="en-US" altLang="ko-KR" sz="1050" dirty="0" smtClean="0">
                <a:solidFill>
                  <a:schemeClr val="tx1"/>
                </a:solidFill>
              </a:rPr>
              <a:t>(XML, CSV, JSON </a:t>
            </a:r>
            <a:r>
              <a:rPr lang="ko-KR" altLang="en-US" sz="1050" dirty="0" smtClean="0">
                <a:solidFill>
                  <a:schemeClr val="tx1"/>
                </a:solidFill>
              </a:rPr>
              <a:t>등</a:t>
            </a:r>
            <a:r>
              <a:rPr lang="en-US" altLang="ko-KR" sz="1050" dirty="0" smtClean="0">
                <a:solidFill>
                  <a:schemeClr val="tx1"/>
                </a:solidFill>
              </a:rPr>
              <a:t>)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8BC9087D-5CC2-4DE8-AA76-D16B52DA5E63}"/>
              </a:ext>
            </a:extLst>
          </p:cNvPr>
          <p:cNvCxnSpPr/>
          <p:nvPr/>
        </p:nvCxnSpPr>
        <p:spPr>
          <a:xfrm>
            <a:off x="8889559" y="4055821"/>
            <a:ext cx="33756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D50423F5-AA83-4C7B-B565-144954D416C0}"/>
              </a:ext>
            </a:extLst>
          </p:cNvPr>
          <p:cNvSpPr/>
          <p:nvPr/>
        </p:nvSpPr>
        <p:spPr>
          <a:xfrm>
            <a:off x="9315754" y="3479523"/>
            <a:ext cx="925526" cy="112592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0311" tIns="45155" rIns="90311" bIns="45155" rtlCol="0" anchor="ctr"/>
          <a:lstStyle/>
          <a:p>
            <a:pPr algn="ctr"/>
            <a:r>
              <a:rPr lang="ko-KR" altLang="en-US" sz="1050" b="1" smtClean="0">
                <a:solidFill>
                  <a:srgbClr val="0000FF"/>
                </a:solidFill>
              </a:rPr>
              <a:t>업체</a:t>
            </a:r>
            <a:r>
              <a:rPr lang="en-US" altLang="ko-KR" sz="1050" b="1" smtClean="0">
                <a:solidFill>
                  <a:srgbClr val="0000FF"/>
                </a:solidFill>
              </a:rPr>
              <a:t>: </a:t>
            </a:r>
            <a:r>
              <a:rPr lang="ko-KR" altLang="en-US" sz="1050" b="1" smtClean="0">
                <a:solidFill>
                  <a:srgbClr val="0000FF"/>
                </a:solidFill>
              </a:rPr>
              <a:t>약 </a:t>
            </a:r>
            <a:r>
              <a:rPr lang="en-US" altLang="ko-KR" sz="1050" b="1" smtClean="0">
                <a:solidFill>
                  <a:srgbClr val="0000FF"/>
                </a:solidFill>
              </a:rPr>
              <a:t>500</a:t>
            </a:r>
          </a:p>
          <a:p>
            <a:pPr algn="ctr"/>
            <a:r>
              <a:rPr lang="ko-KR" altLang="en-US" sz="1050" smtClean="0">
                <a:solidFill>
                  <a:schemeClr val="tx1"/>
                </a:solidFill>
              </a:rPr>
              <a:t>생성된 </a:t>
            </a:r>
            <a:r>
              <a:rPr lang="ko-KR" altLang="en-US" sz="1050" dirty="0" smtClean="0">
                <a:solidFill>
                  <a:schemeClr val="tx1"/>
                </a:solidFill>
              </a:rPr>
              <a:t>파일 </a:t>
            </a:r>
            <a:r>
              <a:rPr lang="en-US" altLang="ko-KR" sz="1050" dirty="0" smtClean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en-US" altLang="ko-KR" sz="1050" dirty="0" smtClean="0">
                <a:solidFill>
                  <a:schemeClr val="tx1"/>
                </a:solidFill>
              </a:rPr>
              <a:t>MYSQL DB</a:t>
            </a:r>
            <a:r>
              <a:rPr lang="ko-KR" altLang="en-US" sz="1050" dirty="0" smtClean="0">
                <a:solidFill>
                  <a:schemeClr val="tx1"/>
                </a:solidFill>
              </a:rPr>
              <a:t>를 통하여 업체별 데이터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050" dirty="0" smtClean="0">
                <a:solidFill>
                  <a:schemeClr val="tx1"/>
                </a:solidFill>
              </a:rPr>
              <a:t>파일 생성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8BC9087D-5CC2-4DE8-AA76-D16B52DA5E63}"/>
              </a:ext>
            </a:extLst>
          </p:cNvPr>
          <p:cNvCxnSpPr/>
          <p:nvPr/>
        </p:nvCxnSpPr>
        <p:spPr>
          <a:xfrm>
            <a:off x="10355370" y="4066250"/>
            <a:ext cx="33756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2D68FB89-9CD0-46B1-A68F-32303688EE65}"/>
              </a:ext>
            </a:extLst>
          </p:cNvPr>
          <p:cNvSpPr txBox="1"/>
          <p:nvPr/>
        </p:nvSpPr>
        <p:spPr>
          <a:xfrm>
            <a:off x="10295813" y="4791556"/>
            <a:ext cx="1681871" cy="5530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98" b="1" dirty="0" smtClean="0">
                <a:latin typeface="+mj-lt"/>
              </a:rPr>
              <a:t>업체가 원하는 방식에 따라</a:t>
            </a:r>
            <a:endParaRPr lang="en-US" altLang="ko-KR" sz="998" b="1" dirty="0" smtClean="0">
              <a:latin typeface="+mj-lt"/>
            </a:endParaRPr>
          </a:p>
          <a:p>
            <a:pPr algn="ctr"/>
            <a:r>
              <a:rPr lang="ko-KR" altLang="en-US" sz="998" b="1" dirty="0" smtClean="0">
                <a:latin typeface="+mj-lt"/>
              </a:rPr>
              <a:t>생성된 데이터 파일 제공</a:t>
            </a:r>
            <a:endParaRPr lang="en-US" altLang="ko-KR" sz="998" b="1" dirty="0" smtClean="0">
              <a:latin typeface="+mj-lt"/>
            </a:endParaRPr>
          </a:p>
          <a:p>
            <a:pPr algn="ctr"/>
            <a:r>
              <a:rPr lang="en-US" altLang="ko-KR" sz="998" b="1" dirty="0" smtClean="0">
                <a:latin typeface="+mj-lt"/>
              </a:rPr>
              <a:t>(FTP, HOSTING</a:t>
            </a:r>
            <a:r>
              <a:rPr lang="ko-KR" altLang="en-US" sz="998" b="1" dirty="0" smtClean="0">
                <a:latin typeface="+mj-lt"/>
              </a:rPr>
              <a:t>등</a:t>
            </a:r>
            <a:r>
              <a:rPr lang="en-US" altLang="ko-KR" sz="998" b="1" dirty="0" smtClean="0">
                <a:latin typeface="+mj-lt"/>
              </a:rPr>
              <a:t>)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3D2994B7-A6A4-4107-A74C-21D30BE4B5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262" y="2406077"/>
            <a:ext cx="322488" cy="408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4292E88-EF12-40B7-8163-7240608CA838}"/>
              </a:ext>
            </a:extLst>
          </p:cNvPr>
          <p:cNvSpPr txBox="1"/>
          <p:nvPr/>
        </p:nvSpPr>
        <p:spPr>
          <a:xfrm>
            <a:off x="8004946" y="3044143"/>
            <a:ext cx="764952" cy="2459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98" b="1" dirty="0">
                <a:latin typeface="+mj-lt"/>
              </a:rPr>
              <a:t>API Server1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BC9087D-5CC2-4DE8-AA76-D16B52DA5E63}"/>
              </a:ext>
            </a:extLst>
          </p:cNvPr>
          <p:cNvCxnSpPr>
            <a:endCxn id="47" idx="1"/>
          </p:cNvCxnSpPr>
          <p:nvPr/>
        </p:nvCxnSpPr>
        <p:spPr>
          <a:xfrm flipV="1">
            <a:off x="7248103" y="2610259"/>
            <a:ext cx="909159" cy="1089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2659815" y="2406080"/>
            <a:ext cx="706861" cy="830025"/>
            <a:chOff x="1903976" y="2994867"/>
            <a:chExt cx="902395" cy="1037531"/>
          </a:xfrm>
        </p:grpSpPr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903976" y="3632930"/>
              <a:ext cx="902395" cy="3994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98" b="1" dirty="0">
                  <a:latin typeface="+mj-lt"/>
                </a:rPr>
                <a:t>수신된 기상 </a:t>
              </a:r>
              <a:r>
                <a:rPr lang="en-US" altLang="ko-KR" sz="998" b="1" dirty="0">
                  <a:latin typeface="+mj-lt"/>
                </a:rPr>
                <a:t/>
              </a:r>
              <a:br>
                <a:rPr lang="en-US" altLang="ko-KR" sz="998" b="1" dirty="0">
                  <a:latin typeface="+mj-lt"/>
                </a:rPr>
              </a:br>
              <a:r>
                <a:rPr lang="ko-KR" altLang="en-US" sz="998" b="1" dirty="0">
                  <a:latin typeface="+mj-lt"/>
                </a:rPr>
                <a:t>데이터 </a:t>
              </a:r>
              <a:r>
                <a:rPr lang="ko-KR" altLang="en-US" sz="998" b="1" dirty="0" err="1">
                  <a:latin typeface="+mj-lt"/>
                </a:rPr>
                <a:t>파싱</a:t>
              </a:r>
              <a:endParaRPr lang="en-US" altLang="ko-KR" sz="998" b="1" dirty="0">
                <a:latin typeface="+mj-lt"/>
              </a:endParaRPr>
            </a:p>
          </p:txBody>
        </p:sp>
      </p:grp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0D747DA-800D-4229-BAC5-F8122D74F0EE}"/>
              </a:ext>
            </a:extLst>
          </p:cNvPr>
          <p:cNvCxnSpPr>
            <a:stCxn id="75" idx="2"/>
            <a:endCxn id="97" idx="0"/>
          </p:cNvCxnSpPr>
          <p:nvPr/>
        </p:nvCxnSpPr>
        <p:spPr>
          <a:xfrm flipH="1">
            <a:off x="833767" y="1973462"/>
            <a:ext cx="570560" cy="17551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5ED909F5-AF9B-4563-8ADD-4D50E28FEC4B}"/>
              </a:ext>
            </a:extLst>
          </p:cNvPr>
          <p:cNvCxnSpPr>
            <a:stCxn id="78" idx="0"/>
            <a:endCxn id="56" idx="1"/>
          </p:cNvCxnSpPr>
          <p:nvPr/>
        </p:nvCxnSpPr>
        <p:spPr>
          <a:xfrm flipV="1">
            <a:off x="1861397" y="2661306"/>
            <a:ext cx="923554" cy="10673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8F7BE64-14A6-4FC3-9DFC-DFB2EE8EEC81}"/>
              </a:ext>
            </a:extLst>
          </p:cNvPr>
          <p:cNvGrpSpPr/>
          <p:nvPr/>
        </p:nvGrpSpPr>
        <p:grpSpPr>
          <a:xfrm>
            <a:off x="6626468" y="2376303"/>
            <a:ext cx="497309" cy="794650"/>
            <a:chOff x="3165073" y="2783210"/>
            <a:chExt cx="881629" cy="1114425"/>
          </a:xfrm>
        </p:grpSpPr>
        <p:sp>
          <p:nvSpPr>
            <p:cNvPr id="67" name="순서도: 자기 디스크 66">
              <a:extLst>
                <a:ext uri="{FF2B5EF4-FFF2-40B4-BE49-F238E27FC236}">
                  <a16:creationId xmlns:a16="http://schemas.microsoft.com/office/drawing/2014/main" id="{98D96E16-4C68-474C-95AC-27BEDAD6AFEF}"/>
                </a:ext>
              </a:extLst>
            </p:cNvPr>
            <p:cNvSpPr/>
            <p:nvPr/>
          </p:nvSpPr>
          <p:spPr>
            <a:xfrm>
              <a:off x="3165073" y="2783210"/>
              <a:ext cx="843172" cy="1114425"/>
            </a:xfrm>
            <a:prstGeom prst="flowChartMagneticDisk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98" b="1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834D6F7-80E4-40A5-B3F6-428D2D35FB67}"/>
                </a:ext>
              </a:extLst>
            </p:cNvPr>
            <p:cNvSpPr txBox="1"/>
            <p:nvPr/>
          </p:nvSpPr>
          <p:spPr>
            <a:xfrm>
              <a:off x="3177792" y="3293185"/>
              <a:ext cx="868910" cy="4481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98" b="1" dirty="0">
                  <a:latin typeface="+mj-lt"/>
                </a:rPr>
                <a:t>MYSQL</a:t>
              </a:r>
            </a:p>
            <a:p>
              <a:pPr algn="ctr"/>
              <a:r>
                <a:rPr lang="en-US" altLang="ko-KR" sz="998" b="1" dirty="0">
                  <a:latin typeface="+mj-lt"/>
                </a:rPr>
                <a:t>(master)</a:t>
              </a:r>
              <a:endParaRPr lang="ko-KR" altLang="en-US" sz="998" b="1" dirty="0">
                <a:latin typeface="+mj-lt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3757121" y="2375054"/>
            <a:ext cx="786369" cy="830025"/>
            <a:chOff x="1853226" y="2994867"/>
            <a:chExt cx="1003896" cy="1037531"/>
          </a:xfrm>
        </p:grpSpPr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853226" y="3632930"/>
              <a:ext cx="1003896" cy="3994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98" b="1" smtClean="0">
                  <a:latin typeface="+mj-lt"/>
                </a:rPr>
                <a:t>서비스 데이터</a:t>
              </a:r>
              <a:endParaRPr lang="en-US" altLang="ko-KR" sz="998" b="1" smtClean="0">
                <a:latin typeface="+mj-lt"/>
              </a:endParaRPr>
            </a:p>
            <a:p>
              <a:pPr algn="ctr"/>
              <a:r>
                <a:rPr lang="ko-KR" altLang="en-US" sz="998" b="1" smtClean="0">
                  <a:latin typeface="+mj-lt"/>
                </a:rPr>
                <a:t>생산</a:t>
              </a:r>
              <a:endParaRPr lang="en-US" altLang="ko-KR" sz="998" b="1" dirty="0">
                <a:latin typeface="+mj-lt"/>
              </a:endParaRPr>
            </a:p>
          </p:txBody>
        </p:sp>
      </p:grp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02570D27-1007-427D-8C22-4FD3C1F2D220}"/>
              </a:ext>
            </a:extLst>
          </p:cNvPr>
          <p:cNvCxnSpPr/>
          <p:nvPr/>
        </p:nvCxnSpPr>
        <p:spPr>
          <a:xfrm>
            <a:off x="3501708" y="2749699"/>
            <a:ext cx="42576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02570D27-1007-427D-8C22-4FD3C1F2D220}"/>
              </a:ext>
            </a:extLst>
          </p:cNvPr>
          <p:cNvCxnSpPr/>
          <p:nvPr/>
        </p:nvCxnSpPr>
        <p:spPr>
          <a:xfrm>
            <a:off x="8387422" y="2097807"/>
            <a:ext cx="9122" cy="3233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3A4A8BB-EFA0-48E8-A5DD-BA7AD996A709}"/>
              </a:ext>
            </a:extLst>
          </p:cNvPr>
          <p:cNvGrpSpPr/>
          <p:nvPr/>
        </p:nvGrpSpPr>
        <p:grpSpPr>
          <a:xfrm>
            <a:off x="8098387" y="1185486"/>
            <a:ext cx="497308" cy="794650"/>
            <a:chOff x="3165073" y="2783210"/>
            <a:chExt cx="881626" cy="1114425"/>
          </a:xfrm>
        </p:grpSpPr>
        <p:sp>
          <p:nvSpPr>
            <p:cNvPr id="82" name="순서도: 자기 디스크 81">
              <a:extLst>
                <a:ext uri="{FF2B5EF4-FFF2-40B4-BE49-F238E27FC236}">
                  <a16:creationId xmlns:a16="http://schemas.microsoft.com/office/drawing/2014/main" id="{555B0D87-D959-43D6-84C2-A26A437FB291}"/>
                </a:ext>
              </a:extLst>
            </p:cNvPr>
            <p:cNvSpPr/>
            <p:nvPr/>
          </p:nvSpPr>
          <p:spPr>
            <a:xfrm>
              <a:off x="3165073" y="2783210"/>
              <a:ext cx="843172" cy="1114425"/>
            </a:xfrm>
            <a:prstGeom prst="flowChartMagneticDisk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98" b="1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EDA55BC-6F50-4D21-8A33-B4718AC13863}"/>
                </a:ext>
              </a:extLst>
            </p:cNvPr>
            <p:cNvSpPr txBox="1"/>
            <p:nvPr/>
          </p:nvSpPr>
          <p:spPr>
            <a:xfrm>
              <a:off x="3177790" y="3293185"/>
              <a:ext cx="868909" cy="4481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98" b="1" dirty="0" err="1">
                  <a:latin typeface="+mj-lt"/>
                </a:rPr>
                <a:t>Redis</a:t>
              </a:r>
              <a:endParaRPr lang="en-US" altLang="ko-KR" sz="998" b="1" dirty="0">
                <a:latin typeface="+mj-lt"/>
              </a:endParaRPr>
            </a:p>
            <a:p>
              <a:pPr algn="ctr"/>
              <a:r>
                <a:rPr lang="en-US" altLang="ko-KR" sz="998" b="1" dirty="0">
                  <a:latin typeface="+mj-lt"/>
                </a:rPr>
                <a:t>(master)</a:t>
              </a:r>
              <a:endParaRPr lang="ko-KR" altLang="en-US" sz="998" b="1" dirty="0">
                <a:latin typeface="+mj-lt"/>
              </a:endParaRPr>
            </a:p>
          </p:txBody>
        </p:sp>
      </p:grp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02570D27-1007-427D-8C22-4FD3C1F2D220}"/>
              </a:ext>
            </a:extLst>
          </p:cNvPr>
          <p:cNvCxnSpPr>
            <a:stCxn id="70" idx="3"/>
          </p:cNvCxnSpPr>
          <p:nvPr/>
        </p:nvCxnSpPr>
        <p:spPr>
          <a:xfrm>
            <a:off x="4421817" y="2630280"/>
            <a:ext cx="2144517" cy="638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4A42110-50B9-4381-B27F-8D3978C664B3}"/>
              </a:ext>
            </a:extLst>
          </p:cNvPr>
          <p:cNvSpPr txBox="1"/>
          <p:nvPr/>
        </p:nvSpPr>
        <p:spPr>
          <a:xfrm>
            <a:off x="8845050" y="3007318"/>
            <a:ext cx="851607" cy="244760"/>
          </a:xfrm>
          <a:prstGeom prst="rect">
            <a:avLst/>
          </a:prstGeom>
          <a:noFill/>
        </p:spPr>
        <p:txBody>
          <a:bodyPr wrap="square" lIns="90311" tIns="45155" rIns="90311" bIns="45155" rtlCol="0">
            <a:spAutoFit/>
          </a:bodyPr>
          <a:lstStyle/>
          <a:p>
            <a:pPr algn="ctr"/>
            <a:r>
              <a:rPr lang="en-US" altLang="ko-KR" sz="998" b="1" dirty="0">
                <a:latin typeface="+mj-lt"/>
              </a:rPr>
              <a:t>Response</a:t>
            </a: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8F88A852-AE06-48B7-ABEB-BDEE1D7553C5}"/>
              </a:ext>
            </a:extLst>
          </p:cNvPr>
          <p:cNvCxnSpPr/>
          <p:nvPr/>
        </p:nvCxnSpPr>
        <p:spPr>
          <a:xfrm>
            <a:off x="8965727" y="2963890"/>
            <a:ext cx="61901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0BCA254D-2B9E-488B-9CAF-3422004A24A9}"/>
              </a:ext>
            </a:extLst>
          </p:cNvPr>
          <p:cNvCxnSpPr/>
          <p:nvPr/>
        </p:nvCxnSpPr>
        <p:spPr>
          <a:xfrm flipH="1">
            <a:off x="8919659" y="2418497"/>
            <a:ext cx="6190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D470B98A-76F9-48BA-9E40-B3DCD7452564}"/>
              </a:ext>
            </a:extLst>
          </p:cNvPr>
          <p:cNvSpPr txBox="1"/>
          <p:nvPr/>
        </p:nvSpPr>
        <p:spPr>
          <a:xfrm>
            <a:off x="8845050" y="2132680"/>
            <a:ext cx="851607" cy="244760"/>
          </a:xfrm>
          <a:prstGeom prst="rect">
            <a:avLst/>
          </a:prstGeom>
          <a:noFill/>
        </p:spPr>
        <p:txBody>
          <a:bodyPr wrap="square" lIns="90311" tIns="45155" rIns="90311" bIns="45155" rtlCol="0">
            <a:spAutoFit/>
          </a:bodyPr>
          <a:lstStyle/>
          <a:p>
            <a:pPr algn="ctr"/>
            <a:r>
              <a:rPr lang="en-US" altLang="ko-KR" sz="998" b="1" dirty="0">
                <a:latin typeface="+mj-lt"/>
              </a:rPr>
              <a:t>Request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50423F5-AA83-4C7B-B565-144954D416C0}"/>
              </a:ext>
            </a:extLst>
          </p:cNvPr>
          <p:cNvSpPr/>
          <p:nvPr/>
        </p:nvSpPr>
        <p:spPr>
          <a:xfrm>
            <a:off x="9603392" y="2132680"/>
            <a:ext cx="537630" cy="112085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0311" tIns="45155" rIns="90311" bIns="45155" rtlCol="0" anchor="ctr"/>
          <a:lstStyle/>
          <a:p>
            <a:pPr algn="ctr"/>
            <a:r>
              <a:rPr lang="ko-KR" altLang="en-US" sz="1633" dirty="0"/>
              <a:t>사용자</a:t>
            </a:r>
            <a:endParaRPr lang="en-US" altLang="ko-KR" sz="1633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18F7BE64-14A6-4FC3-9DFC-DFB2EE8EEC81}"/>
              </a:ext>
            </a:extLst>
          </p:cNvPr>
          <p:cNvGrpSpPr/>
          <p:nvPr/>
        </p:nvGrpSpPr>
        <p:grpSpPr>
          <a:xfrm>
            <a:off x="3617843" y="1064149"/>
            <a:ext cx="569388" cy="794650"/>
            <a:chOff x="3069902" y="2783210"/>
            <a:chExt cx="1009411" cy="1114425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93" name="순서도: 자기 디스크 92">
              <a:extLst>
                <a:ext uri="{FF2B5EF4-FFF2-40B4-BE49-F238E27FC236}">
                  <a16:creationId xmlns:a16="http://schemas.microsoft.com/office/drawing/2014/main" id="{98D96E16-4C68-474C-95AC-27BEDAD6AFEF}"/>
                </a:ext>
              </a:extLst>
            </p:cNvPr>
            <p:cNvSpPr/>
            <p:nvPr/>
          </p:nvSpPr>
          <p:spPr>
            <a:xfrm>
              <a:off x="3165073" y="2783210"/>
              <a:ext cx="843172" cy="1114425"/>
            </a:xfrm>
            <a:prstGeom prst="flowChartMagneticDisk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98" b="1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834D6F7-80E4-40A5-B3F6-428D2D35FB67}"/>
                </a:ext>
              </a:extLst>
            </p:cNvPr>
            <p:cNvSpPr txBox="1"/>
            <p:nvPr/>
          </p:nvSpPr>
          <p:spPr>
            <a:xfrm>
              <a:off x="3069902" y="3264413"/>
              <a:ext cx="1009411" cy="344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98" b="1" smtClean="0">
                  <a:latin typeface="+mj-lt"/>
                </a:rPr>
                <a:t>날씨앱</a:t>
              </a:r>
              <a:endParaRPr lang="ko-KR" altLang="en-US" sz="998" b="1" dirty="0">
                <a:latin typeface="+mj-lt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8F7BE64-14A6-4FC3-9DFC-DFB2EE8EEC81}"/>
              </a:ext>
            </a:extLst>
          </p:cNvPr>
          <p:cNvGrpSpPr/>
          <p:nvPr/>
        </p:nvGrpSpPr>
        <p:grpSpPr>
          <a:xfrm>
            <a:off x="4495064" y="1046112"/>
            <a:ext cx="569388" cy="794650"/>
            <a:chOff x="3137307" y="2783210"/>
            <a:chExt cx="1009410" cy="1114425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99" name="순서도: 자기 디스크 98">
              <a:extLst>
                <a:ext uri="{FF2B5EF4-FFF2-40B4-BE49-F238E27FC236}">
                  <a16:creationId xmlns:a16="http://schemas.microsoft.com/office/drawing/2014/main" id="{98D96E16-4C68-474C-95AC-27BEDAD6AFEF}"/>
                </a:ext>
              </a:extLst>
            </p:cNvPr>
            <p:cNvSpPr/>
            <p:nvPr/>
          </p:nvSpPr>
          <p:spPr>
            <a:xfrm>
              <a:off x="3165073" y="2783210"/>
              <a:ext cx="843172" cy="1114425"/>
            </a:xfrm>
            <a:prstGeom prst="flowChartMagneticDisk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98" b="1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834D6F7-80E4-40A5-B3F6-428D2D35FB67}"/>
                </a:ext>
              </a:extLst>
            </p:cNvPr>
            <p:cNvSpPr txBox="1"/>
            <p:nvPr/>
          </p:nvSpPr>
          <p:spPr>
            <a:xfrm>
              <a:off x="3137307" y="3297266"/>
              <a:ext cx="1009410" cy="344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98" b="1" smtClean="0">
                  <a:latin typeface="+mj-lt"/>
                </a:rPr>
                <a:t>날씨웹</a:t>
              </a:r>
              <a:endParaRPr lang="ko-KR" altLang="en-US" sz="998" b="1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8788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직사각형 237"/>
          <p:cNvSpPr/>
          <p:nvPr/>
        </p:nvSpPr>
        <p:spPr>
          <a:xfrm>
            <a:off x="1386488" y="4400554"/>
            <a:ext cx="4383606" cy="1945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KIOT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플랫폼 마이크로서비스 아키텍처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518250" y="1266744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데이터센터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528695" y="1266744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Air365Web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3539140" y="1266742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Air365App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549585" y="1266742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Air365Admin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560030" y="1266741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에어맵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570475" y="1266740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날씨웹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7580920" y="1258351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날씨앱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91365" y="1266740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N</a:t>
            </a:r>
            <a:endParaRPr lang="ko-KR" altLang="en-US" sz="1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518251" y="3318882"/>
            <a:ext cx="91587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24242(TSDB)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558054" y="3325354"/>
            <a:ext cx="91587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30101(</a:t>
            </a:r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최근</a:t>
            </a:r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2535448" y="3318871"/>
            <a:ext cx="91587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20001(</a:t>
            </a:r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</a:t>
            </a:r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558054" y="4649621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 Monitor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2535448" y="4643138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Ingress Router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5595000" y="3313187"/>
            <a:ext cx="915871" cy="2540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DataC. 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6615412" y="3312393"/>
            <a:ext cx="915871" cy="2540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Air365API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4577802" y="3320252"/>
            <a:ext cx="91587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기상 </a:t>
            </a:r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7632608" y="3318871"/>
            <a:ext cx="915871" cy="2540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날씨 </a:t>
            </a:r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8649803" y="3325354"/>
            <a:ext cx="915871" cy="2540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ko-KR" altLang="en-US" sz="10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0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1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직선 화살표 연결선 20"/>
          <p:cNvCxnSpPr>
            <a:stCxn id="47" idx="2"/>
            <a:endCxn id="211" idx="0"/>
          </p:cNvCxnSpPr>
          <p:nvPr/>
        </p:nvCxnSpPr>
        <p:spPr>
          <a:xfrm>
            <a:off x="1976186" y="1520829"/>
            <a:ext cx="3260299" cy="760846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stCxn id="56" idx="2"/>
            <a:endCxn id="188" idx="0"/>
          </p:cNvCxnSpPr>
          <p:nvPr/>
        </p:nvCxnSpPr>
        <p:spPr>
          <a:xfrm>
            <a:off x="1976187" y="3572967"/>
            <a:ext cx="0" cy="221215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>
            <a:stCxn id="211" idx="2"/>
            <a:endCxn id="62" idx="0"/>
          </p:cNvCxnSpPr>
          <p:nvPr/>
        </p:nvCxnSpPr>
        <p:spPr>
          <a:xfrm>
            <a:off x="5236485" y="2535760"/>
            <a:ext cx="816451" cy="77742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53" idx="2"/>
            <a:endCxn id="211" idx="0"/>
          </p:cNvCxnSpPr>
          <p:nvPr/>
        </p:nvCxnSpPr>
        <p:spPr>
          <a:xfrm flipH="1">
            <a:off x="5236485" y="1520825"/>
            <a:ext cx="1791926" cy="76085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stCxn id="54" idx="2"/>
            <a:endCxn id="211" idx="0"/>
          </p:cNvCxnSpPr>
          <p:nvPr/>
        </p:nvCxnSpPr>
        <p:spPr>
          <a:xfrm flipH="1">
            <a:off x="5236485" y="1512436"/>
            <a:ext cx="2802371" cy="76923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55" idx="2"/>
            <a:endCxn id="211" idx="0"/>
          </p:cNvCxnSpPr>
          <p:nvPr/>
        </p:nvCxnSpPr>
        <p:spPr>
          <a:xfrm flipH="1">
            <a:off x="5236485" y="1520825"/>
            <a:ext cx="3812816" cy="76085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211" idx="2"/>
            <a:endCxn id="65" idx="0"/>
          </p:cNvCxnSpPr>
          <p:nvPr/>
        </p:nvCxnSpPr>
        <p:spPr>
          <a:xfrm>
            <a:off x="5236485" y="2535760"/>
            <a:ext cx="2854059" cy="783111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stCxn id="51" idx="2"/>
            <a:endCxn id="211" idx="0"/>
          </p:cNvCxnSpPr>
          <p:nvPr/>
        </p:nvCxnSpPr>
        <p:spPr>
          <a:xfrm>
            <a:off x="5007521" y="1520827"/>
            <a:ext cx="228964" cy="760848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stCxn id="211" idx="2"/>
            <a:endCxn id="64" idx="0"/>
          </p:cNvCxnSpPr>
          <p:nvPr/>
        </p:nvCxnSpPr>
        <p:spPr>
          <a:xfrm flipH="1">
            <a:off x="5035738" y="2535760"/>
            <a:ext cx="200747" cy="78449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211" idx="2"/>
            <a:endCxn id="63" idx="0"/>
          </p:cNvCxnSpPr>
          <p:nvPr/>
        </p:nvCxnSpPr>
        <p:spPr>
          <a:xfrm>
            <a:off x="5236485" y="2535760"/>
            <a:ext cx="1836863" cy="776633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>
            <a:stCxn id="58" idx="2"/>
            <a:endCxn id="61" idx="0"/>
          </p:cNvCxnSpPr>
          <p:nvPr/>
        </p:nvCxnSpPr>
        <p:spPr>
          <a:xfrm>
            <a:off x="2993384" y="3572956"/>
            <a:ext cx="0" cy="107018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>
            <a:stCxn id="57" idx="2"/>
            <a:endCxn id="60" idx="0"/>
          </p:cNvCxnSpPr>
          <p:nvPr/>
        </p:nvCxnSpPr>
        <p:spPr>
          <a:xfrm>
            <a:off x="4015990" y="3579439"/>
            <a:ext cx="0" cy="107018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211" idx="2"/>
            <a:endCxn id="56" idx="0"/>
          </p:cNvCxnSpPr>
          <p:nvPr/>
        </p:nvCxnSpPr>
        <p:spPr>
          <a:xfrm flipH="1">
            <a:off x="1976187" y="2535760"/>
            <a:ext cx="3260298" cy="78312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>
            <a:stCxn id="211" idx="2"/>
            <a:endCxn id="62" idx="0"/>
          </p:cNvCxnSpPr>
          <p:nvPr/>
        </p:nvCxnSpPr>
        <p:spPr>
          <a:xfrm>
            <a:off x="5236485" y="2535760"/>
            <a:ext cx="816451" cy="77742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>
            <a:stCxn id="49" idx="2"/>
            <a:endCxn id="211" idx="0"/>
          </p:cNvCxnSpPr>
          <p:nvPr/>
        </p:nvCxnSpPr>
        <p:spPr>
          <a:xfrm>
            <a:off x="2986631" y="1520829"/>
            <a:ext cx="2249854" cy="760846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/>
          <p:cNvCxnSpPr>
            <a:stCxn id="211" idx="2"/>
            <a:endCxn id="57" idx="0"/>
          </p:cNvCxnSpPr>
          <p:nvPr/>
        </p:nvCxnSpPr>
        <p:spPr>
          <a:xfrm flipH="1">
            <a:off x="4015990" y="2535760"/>
            <a:ext cx="1220495" cy="789594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/>
          <p:cNvCxnSpPr>
            <a:stCxn id="211" idx="2"/>
            <a:endCxn id="58" idx="0"/>
          </p:cNvCxnSpPr>
          <p:nvPr/>
        </p:nvCxnSpPr>
        <p:spPr>
          <a:xfrm flipH="1">
            <a:off x="2993384" y="2535760"/>
            <a:ext cx="2243101" cy="783111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>
            <a:stCxn id="50" idx="2"/>
            <a:endCxn id="211" idx="0"/>
          </p:cNvCxnSpPr>
          <p:nvPr/>
        </p:nvCxnSpPr>
        <p:spPr>
          <a:xfrm>
            <a:off x="3997076" y="1520827"/>
            <a:ext cx="1239409" cy="760848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/>
          <p:cNvCxnSpPr>
            <a:stCxn id="52" idx="2"/>
            <a:endCxn id="211" idx="0"/>
          </p:cNvCxnSpPr>
          <p:nvPr/>
        </p:nvCxnSpPr>
        <p:spPr>
          <a:xfrm flipH="1">
            <a:off x="5236485" y="1520826"/>
            <a:ext cx="781481" cy="76084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직사각형 133"/>
          <p:cNvSpPr/>
          <p:nvPr/>
        </p:nvSpPr>
        <p:spPr>
          <a:xfrm>
            <a:off x="4575251" y="5785115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5" name="직선 화살표 연결선 134"/>
          <p:cNvCxnSpPr>
            <a:stCxn id="62" idx="2"/>
            <a:endCxn id="134" idx="0"/>
          </p:cNvCxnSpPr>
          <p:nvPr/>
        </p:nvCxnSpPr>
        <p:spPr>
          <a:xfrm flipH="1">
            <a:off x="5033187" y="3567272"/>
            <a:ext cx="1019749" cy="2217843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>
            <a:stCxn id="63" idx="2"/>
            <a:endCxn id="134" idx="0"/>
          </p:cNvCxnSpPr>
          <p:nvPr/>
        </p:nvCxnSpPr>
        <p:spPr>
          <a:xfrm flipH="1">
            <a:off x="5033187" y="3566478"/>
            <a:ext cx="2040161" cy="221863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>
            <a:stCxn id="64" idx="2"/>
            <a:endCxn id="134" idx="0"/>
          </p:cNvCxnSpPr>
          <p:nvPr/>
        </p:nvCxnSpPr>
        <p:spPr>
          <a:xfrm flipH="1">
            <a:off x="5033187" y="3574337"/>
            <a:ext cx="2551" cy="2210778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/>
          <p:cNvCxnSpPr>
            <a:stCxn id="64" idx="2"/>
            <a:endCxn id="189" idx="0"/>
          </p:cNvCxnSpPr>
          <p:nvPr/>
        </p:nvCxnSpPr>
        <p:spPr>
          <a:xfrm flipH="1">
            <a:off x="4015990" y="3574337"/>
            <a:ext cx="1019748" cy="221726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/>
          <p:cNvCxnSpPr>
            <a:stCxn id="62" idx="2"/>
            <a:endCxn id="189" idx="0"/>
          </p:cNvCxnSpPr>
          <p:nvPr/>
        </p:nvCxnSpPr>
        <p:spPr>
          <a:xfrm flipH="1">
            <a:off x="4015990" y="3567272"/>
            <a:ext cx="2036946" cy="222432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/>
          <p:cNvCxnSpPr>
            <a:stCxn id="65" idx="2"/>
            <a:endCxn id="134" idx="0"/>
          </p:cNvCxnSpPr>
          <p:nvPr/>
        </p:nvCxnSpPr>
        <p:spPr>
          <a:xfrm flipH="1">
            <a:off x="5033187" y="3572956"/>
            <a:ext cx="3057357" cy="221215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/>
          <p:cNvCxnSpPr>
            <a:stCxn id="66" idx="2"/>
            <a:endCxn id="134" idx="0"/>
          </p:cNvCxnSpPr>
          <p:nvPr/>
        </p:nvCxnSpPr>
        <p:spPr>
          <a:xfrm flipH="1">
            <a:off x="5033187" y="3579439"/>
            <a:ext cx="4074552" cy="2205676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직사각형 187"/>
          <p:cNvSpPr/>
          <p:nvPr/>
        </p:nvSpPr>
        <p:spPr>
          <a:xfrm>
            <a:off x="1518251" y="5785126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OpenTSDB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3558054" y="5791599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2535448" y="5785116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3" name="직선 화살표 연결선 192"/>
          <p:cNvCxnSpPr>
            <a:stCxn id="61" idx="2"/>
            <a:endCxn id="190" idx="0"/>
          </p:cNvCxnSpPr>
          <p:nvPr/>
        </p:nvCxnSpPr>
        <p:spPr>
          <a:xfrm>
            <a:off x="2993384" y="4897223"/>
            <a:ext cx="0" cy="887893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/>
          <p:cNvCxnSpPr>
            <a:stCxn id="60" idx="2"/>
            <a:endCxn id="189" idx="0"/>
          </p:cNvCxnSpPr>
          <p:nvPr/>
        </p:nvCxnSpPr>
        <p:spPr>
          <a:xfrm>
            <a:off x="4015990" y="4903706"/>
            <a:ext cx="0" cy="887893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직사각형 210"/>
          <p:cNvSpPr/>
          <p:nvPr/>
        </p:nvSpPr>
        <p:spPr>
          <a:xfrm>
            <a:off x="3768104" y="2281675"/>
            <a:ext cx="293676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Gateway(Kong)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5" name="직선 화살표 연결선 234"/>
          <p:cNvCxnSpPr>
            <a:stCxn id="211" idx="2"/>
            <a:endCxn id="66" idx="0"/>
          </p:cNvCxnSpPr>
          <p:nvPr/>
        </p:nvCxnSpPr>
        <p:spPr>
          <a:xfrm>
            <a:off x="5236485" y="2535760"/>
            <a:ext cx="3871254" cy="789594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478257" y="2258761"/>
            <a:ext cx="898286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smtClean="0"/>
              <a:t>인증</a:t>
            </a:r>
            <a:r>
              <a:rPr lang="en-US" altLang="ko-KR" sz="1200" b="1" smtClean="0"/>
              <a:t>/</a:t>
            </a:r>
            <a:r>
              <a:rPr lang="ko-KR" altLang="en-US" sz="1200" b="1" smtClean="0"/>
              <a:t>보안</a:t>
            </a:r>
            <a:endParaRPr lang="ko-KR" altLang="en-US" sz="1200" b="1"/>
          </a:p>
        </p:txBody>
      </p:sp>
      <p:sp>
        <p:nvSpPr>
          <p:cNvPr id="240" name="TextBox 239"/>
          <p:cNvSpPr txBox="1"/>
          <p:nvPr/>
        </p:nvSpPr>
        <p:spPr>
          <a:xfrm>
            <a:off x="468313" y="5219429"/>
            <a:ext cx="918175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smtClean="0"/>
              <a:t>플랫폼</a:t>
            </a:r>
            <a:endParaRPr lang="ko-KR" altLang="en-US" sz="1400" b="1"/>
          </a:p>
        </p:txBody>
      </p:sp>
      <p:sp>
        <p:nvSpPr>
          <p:cNvPr id="139" name="직사각형 138"/>
          <p:cNvSpPr/>
          <p:nvPr/>
        </p:nvSpPr>
        <p:spPr>
          <a:xfrm>
            <a:off x="8647253" y="5785114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직선 화살표 연결선 139"/>
          <p:cNvCxnSpPr>
            <a:stCxn id="145" idx="1"/>
            <a:endCxn id="134" idx="3"/>
          </p:cNvCxnSpPr>
          <p:nvPr/>
        </p:nvCxnSpPr>
        <p:spPr>
          <a:xfrm flipH="1" flipV="1">
            <a:off x="5491122" y="5912158"/>
            <a:ext cx="1121074" cy="11584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/>
        </p:nvSpPr>
        <p:spPr>
          <a:xfrm>
            <a:off x="6612196" y="5796699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Collector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8" name="직선 화살표 연결선 147"/>
          <p:cNvCxnSpPr>
            <a:stCxn id="139" idx="1"/>
            <a:endCxn id="145" idx="3"/>
          </p:cNvCxnSpPr>
          <p:nvPr/>
        </p:nvCxnSpPr>
        <p:spPr>
          <a:xfrm flipH="1">
            <a:off x="7528067" y="5912157"/>
            <a:ext cx="1119186" cy="1158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10682310" y="5791599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Collector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4" name="직선 화살표 연결선 153"/>
          <p:cNvCxnSpPr>
            <a:stCxn id="152" idx="1"/>
            <a:endCxn id="139" idx="3"/>
          </p:cNvCxnSpPr>
          <p:nvPr/>
        </p:nvCxnSpPr>
        <p:spPr>
          <a:xfrm flipH="1" flipV="1">
            <a:off x="9563124" y="5912157"/>
            <a:ext cx="1119186" cy="648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735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03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35356</TotalTime>
  <Words>414</Words>
  <Application>Microsoft Office PowerPoint</Application>
  <PresentationFormat>와이드스크린</PresentationFormat>
  <Paragraphs>158</Paragraphs>
  <Slides>7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8" baseType="lpstr">
      <vt:lpstr>HY헤드라인M</vt:lpstr>
      <vt:lpstr>Noto Sans Blk</vt:lpstr>
      <vt:lpstr>굴림</vt:lpstr>
      <vt:lpstr>맑은 고딕</vt:lpstr>
      <vt:lpstr>Arial</vt:lpstr>
      <vt:lpstr>Calibri</vt:lpstr>
      <vt:lpstr>Calibri Light</vt:lpstr>
      <vt:lpstr>Tahoma</vt:lpstr>
      <vt:lpstr>Times New Roman</vt:lpstr>
      <vt:lpstr>Office 테마</vt:lpstr>
      <vt:lpstr>Image</vt:lpstr>
      <vt:lpstr>PowerPoint 프레젠테이션</vt:lpstr>
      <vt:lpstr>KIOT플랫폼 - Architecture</vt:lpstr>
      <vt:lpstr>KIOT-기상 서버 현재 상황 및 문제점</vt:lpstr>
      <vt:lpstr>통합클러스터 구축 안</vt:lpstr>
      <vt:lpstr>기존 데이터 시스템 구성도</vt:lpstr>
      <vt:lpstr>KIOT플랫폼 마이크로서비스 아키텍처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김주희</dc:creator>
  <cp:lastModifiedBy>kweather</cp:lastModifiedBy>
  <cp:revision>924</cp:revision>
  <cp:lastPrinted>2022-04-18T23:35:12Z</cp:lastPrinted>
  <dcterms:created xsi:type="dcterms:W3CDTF">2019-11-05T00:28:57Z</dcterms:created>
  <dcterms:modified xsi:type="dcterms:W3CDTF">2022-06-13T05:11:59Z</dcterms:modified>
</cp:coreProperties>
</file>